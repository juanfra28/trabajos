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1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4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5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57" r:id="rId12"/>
    <p:sldId id="267" r:id="rId13"/>
    <p:sldId id="275" r:id="rId26"/>
    <p:sldId id="276" r:id="rId27"/>
    <p:sldId id="277" r:id="rId28"/>
    <p:sldId id="278" r:id="rId29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Electrónico</c:v>
                </c:pt>
              </c:strCache>
            </c:strRef>
          </c:tx>
          <c:spPr>
            <a:solidFill>
              <a:srgbClr val="6B3A8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FFFFFF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BCM</c:v>
                </c:pt>
                <c:pt idx="1">
                  <c:v>PADS</c:v>
                </c:pt>
                <c:pt idx="2">
                  <c:v>PF5</c:v>
                </c:pt>
                <c:pt idx="3">
                  <c:v>PA1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1247</c:v>
                </c:pt>
                <c:pt idx="1">
                  <c:v>728.8</c:v>
                </c:pt>
                <c:pt idx="2">
                  <c:v>216.5</c:v>
                </c:pt>
                <c:pt idx="3">
                  <c:v>107.1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BC-4C5C-A2BA-47E62160976E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Mecánico</c:v>
                </c:pt>
              </c:strCache>
            </c:strRef>
          </c:tx>
          <c:spPr>
            <a:solidFill>
              <a:srgbClr val="2E7A5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FFFFFF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BCM</c:v>
                </c:pt>
                <c:pt idx="1">
                  <c:v>PADS</c:v>
                </c:pt>
                <c:pt idx="2">
                  <c:v>PF5</c:v>
                </c:pt>
                <c:pt idx="3">
                  <c:v>PA1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576.9</c:v>
                </c:pt>
                <c:pt idx="1">
                  <c:v>180</c:v>
                </c:pt>
                <c:pt idx="2">
                  <c:v>126</c:v>
                </c:pt>
                <c:pt idx="3">
                  <c:v>64.3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BC-4C5C-A2BA-47E6216097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37346655"/>
        <c:axId val="1838957232"/>
      </c:barChart>
      <c:catAx>
        <c:axId val="3734665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1838957232"/>
        <c:crosses val="autoZero"/>
        <c:auto val="1"/>
        <c:lblAlgn val="ctr"/>
        <c:lblOffset val="100"/>
        <c:noMultiLvlLbl val="0"/>
      </c:catAx>
      <c:valAx>
        <c:axId val="183895723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37346655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rgbClr val="4B5563"/>
              </a:solidFill>
              <a:latin typeface="Calibri" panose="020F0502020204030204" pitchFamily="34" charset="0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10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1F2E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Pt>
            <c:idx val="0"/>
            <c:invertIfNegative val="0"/>
            <c:bubble3D val="0"/>
            <c:spPr>
              <a:solidFill>
                <a:srgbClr val="E4572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3-55A3-44FD-AF49-22766BCDFC62}"/>
              </c:ext>
            </c:extLst>
          </c:dPt>
          <c:dPt>
            <c:idx val="7"/>
            <c:invertIfNegative val="0"/>
            <c:bubble3D val="0"/>
            <c:spPr>
              <a:solidFill>
                <a:srgbClr val="E4572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4-55A3-44FD-AF49-22766BCDFC6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Hoja1!$A$2:$A$9</c:f>
              <c:strCache>
                <c:ptCount val="8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</c:strCache>
            </c:strRef>
          </c:cat>
          <c:val>
            <c:numRef>
              <c:f>Hoja1!$B$2:$B$9</c:f>
              <c:numCache>
                <c:formatCode>General</c:formatCode>
                <c:ptCount val="8"/>
                <c:pt idx="0">
                  <c:v>481.1</c:v>
                </c:pt>
                <c:pt idx="1">
                  <c:v>412.9</c:v>
                </c:pt>
                <c:pt idx="2">
                  <c:v>441.8</c:v>
                </c:pt>
                <c:pt idx="3">
                  <c:v>450.1</c:v>
                </c:pt>
                <c:pt idx="4">
                  <c:v>422.2</c:v>
                </c:pt>
                <c:pt idx="5">
                  <c:v>370</c:v>
                </c:pt>
                <c:pt idx="6">
                  <c:v>321</c:v>
                </c:pt>
                <c:pt idx="7">
                  <c:v>342.8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A3-44FD-AF49-22766BCDFC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-27"/>
        <c:axId val="154191808"/>
        <c:axId val="2049217584"/>
      </c:barChart>
      <c:catAx>
        <c:axId val="154191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2049217584"/>
        <c:crosses val="autoZero"/>
        <c:auto val="1"/>
        <c:lblAlgn val="ctr"/>
        <c:lblOffset val="100"/>
        <c:noMultiLvlLbl val="0"/>
      </c:catAx>
      <c:valAx>
        <c:axId val="20492175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4191808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10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8A96A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Pt>
            <c:idx val="0"/>
            <c:invertIfNegative val="0"/>
            <c:bubble3D val="0"/>
            <c:spPr>
              <a:solidFill>
                <a:srgbClr val="1F2E4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3-E955-4677-9E19-5F93F00F4325}"/>
              </c:ext>
            </c:extLst>
          </c:dPt>
          <c:dPt>
            <c:idx val="1"/>
            <c:invertIfNegative val="0"/>
            <c:bubble3D val="0"/>
            <c:spPr>
              <a:solidFill>
                <a:srgbClr val="1F2E4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4-E955-4677-9E19-5F93F00F432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Hoja1!$A$2:$A$7</c:f>
              <c:strCache>
                <c:ptCount val="6"/>
                <c:pt idx="0">
                  <c:v>Aplicadores / Formación de producto</c:v>
                </c:pt>
                <c:pt idx="1">
                  <c:v>Debobinadores / Unwinds</c:v>
                </c:pt>
                <c:pt idx="2">
                  <c:v>Empaque / Paletizado / Transporte</c:v>
                </c:pt>
                <c:pt idx="3">
                  <c:v>Sistemas centrales / eléctricos</c:v>
                </c:pt>
                <c:pt idx="4">
                  <c:v>Corte y sellado</c:v>
                </c:pt>
                <c:pt idx="5">
                  <c:v>Adhesivos / Melters</c:v>
                </c:pt>
              </c:strCache>
            </c:strRef>
          </c:cat>
          <c:val>
            <c:numRef>
              <c:f>Hoja1!$B$2:$B$7</c:f>
              <c:numCache>
                <c:formatCode>General</c:formatCode>
                <c:ptCount val="6"/>
                <c:pt idx="0">
                  <c:v>726</c:v>
                </c:pt>
                <c:pt idx="1">
                  <c:v>689.8</c:v>
                </c:pt>
                <c:pt idx="2">
                  <c:v>687.9</c:v>
                </c:pt>
                <c:pt idx="3">
                  <c:v>575.9</c:v>
                </c:pt>
                <c:pt idx="4">
                  <c:v>306.39999999999998</c:v>
                </c:pt>
                <c:pt idx="5">
                  <c:v>259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55-4677-9E19-5F93F00F43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154174176"/>
        <c:axId val="369391664"/>
      </c:barChart>
      <c:catAx>
        <c:axId val="15417417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369391664"/>
        <c:crosses val="autoZero"/>
        <c:auto val="1"/>
        <c:lblAlgn val="ctr"/>
        <c:lblOffset val="100"/>
        <c:noMultiLvlLbl val="0"/>
      </c:catAx>
      <c:valAx>
        <c:axId val="369391664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54174176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10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2E7A5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FCO — Final Cut Off</c:v>
                </c:pt>
                <c:pt idx="1">
                  <c:v>LEA — Leg Elastic</c:v>
                </c:pt>
                <c:pt idx="2">
                  <c:v>SWA — Solo Wrap Applicator</c:v>
                </c:pt>
                <c:pt idx="3">
                  <c:v>SLA — Surge Layer Applicator</c:v>
                </c:pt>
                <c:pt idx="4">
                  <c:v>FLF — Fluff Forming</c:v>
                </c:pt>
                <c:pt idx="5">
                  <c:v>PCO — Pad Cut Off</c:v>
                </c:pt>
                <c:pt idx="6">
                  <c:v>WEA — Aplicador De Waist Elastic</c:v>
                </c:pt>
                <c:pt idx="7">
                  <c:v>FPA — Frontal Patch Applicator</c:v>
                </c:pt>
                <c:pt idx="8">
                  <c:v>BEA — Back Ear Applicator</c:v>
                </c:pt>
                <c:pt idx="9">
                  <c:v>FEA — Front Ear Applicator</c:v>
                </c:pt>
              </c:strCache>
            </c:strRef>
          </c:cat>
          <c:val>
            <c:numRef>
              <c:f>Hoja1!$B$2:$B$11</c:f>
              <c:numCache>
                <c:formatCode>General</c:formatCode>
                <c:ptCount val="10"/>
                <c:pt idx="0">
                  <c:v>52.8</c:v>
                </c:pt>
                <c:pt idx="1">
                  <c:v>43.7</c:v>
                </c:pt>
                <c:pt idx="2">
                  <c:v>31.6</c:v>
                </c:pt>
                <c:pt idx="3">
                  <c:v>29.3</c:v>
                </c:pt>
                <c:pt idx="4">
                  <c:v>29.2</c:v>
                </c:pt>
                <c:pt idx="5">
                  <c:v>29.2</c:v>
                </c:pt>
                <c:pt idx="6">
                  <c:v>24.9</c:v>
                </c:pt>
                <c:pt idx="7">
                  <c:v>17.600000000000001</c:v>
                </c:pt>
                <c:pt idx="8">
                  <c:v>14.6</c:v>
                </c:pt>
                <c:pt idx="9">
                  <c:v>13.7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5F-4AEB-94B0-2849A11352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42967679"/>
        <c:axId val="369417104"/>
      </c:barChart>
      <c:catAx>
        <c:axId val="4296767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369417104"/>
        <c:crosses val="autoZero"/>
        <c:auto val="1"/>
        <c:lblAlgn val="ctr"/>
        <c:lblOffset val="100"/>
        <c:noMultiLvlLbl val="0"/>
      </c:catAx>
      <c:valAx>
        <c:axId val="369417104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42967679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05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6B3A8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Hoja1!$A$2:$A$13</c:f>
              <c:strCache>
                <c:ptCount val="12"/>
                <c:pt idx="0">
                  <c:v>CS — Central System</c:v>
                </c:pt>
                <c:pt idx="1">
                  <c:v>ICU — Inner Cover Unwind</c:v>
                </c:pt>
                <c:pt idx="2">
                  <c:v>SLA — Surge Layer Applicator</c:v>
                </c:pt>
                <c:pt idx="3">
                  <c:v>SAM — Super Absorbent</c:v>
                </c:pt>
                <c:pt idx="4">
                  <c:v>SLU — Surge Layer Unwind</c:v>
                </c:pt>
                <c:pt idx="5">
                  <c:v>OCU — Outer Cover Unwind</c:v>
                </c:pt>
                <c:pt idx="6">
                  <c:v>TSV — Tablero Servos</c:v>
                </c:pt>
                <c:pt idx="7">
                  <c:v>LNU — Liner Unwind</c:v>
                </c:pt>
                <c:pt idx="8">
                  <c:v>CFF — Containment Flap Forming</c:v>
                </c:pt>
                <c:pt idx="9">
                  <c:v>SWA — Solo Wrap Applicator</c:v>
                </c:pt>
                <c:pt idx="10">
                  <c:v>PCO — Pad Cut Off</c:v>
                </c:pt>
                <c:pt idx="11">
                  <c:v>SWU — Solo Wrap Unwind</c:v>
                </c:pt>
              </c:strCache>
            </c:strRef>
          </c:cat>
          <c:val>
            <c:numRef>
              <c:f>Hoja1!$B$2:$B$13</c:f>
              <c:numCache>
                <c:formatCode>General</c:formatCode>
                <c:ptCount val="12"/>
                <c:pt idx="0">
                  <c:v>210.5</c:v>
                </c:pt>
                <c:pt idx="1">
                  <c:v>85.5</c:v>
                </c:pt>
                <c:pt idx="2">
                  <c:v>80.099999999999994</c:v>
                </c:pt>
                <c:pt idx="3">
                  <c:v>75.3</c:v>
                </c:pt>
                <c:pt idx="4">
                  <c:v>62.8</c:v>
                </c:pt>
                <c:pt idx="5">
                  <c:v>59</c:v>
                </c:pt>
                <c:pt idx="6">
                  <c:v>31.3</c:v>
                </c:pt>
                <c:pt idx="7">
                  <c:v>30.5</c:v>
                </c:pt>
                <c:pt idx="8">
                  <c:v>21.3</c:v>
                </c:pt>
                <c:pt idx="9">
                  <c:v>20.8</c:v>
                </c:pt>
                <c:pt idx="10">
                  <c:v>20.7</c:v>
                </c:pt>
                <c:pt idx="11">
                  <c:v>18.5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60-478F-B4F1-1139276DC4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39218607"/>
        <c:axId val="369419984"/>
      </c:barChart>
      <c:catAx>
        <c:axId val="3921860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369419984"/>
        <c:crosses val="autoZero"/>
        <c:auto val="1"/>
        <c:lblAlgn val="ctr"/>
        <c:lblOffset val="100"/>
        <c:noMultiLvlLbl val="0"/>
      </c:catAx>
      <c:valAx>
        <c:axId val="369419984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39218607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05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2E7A5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Hoja1!$A$2:$A$9</c:f>
              <c:strCache>
                <c:ptCount val="8"/>
                <c:pt idx="0">
                  <c:v>WFM — Wing Folding Module</c:v>
                </c:pt>
                <c:pt idx="1">
                  <c:v>FNCT — Final Cutting Module</c:v>
                </c:pt>
                <c:pt idx="2">
                  <c:v>MILL — Mill Module</c:v>
                </c:pt>
                <c:pt idx="3">
                  <c:v>SLNG — Sealing Module</c:v>
                </c:pt>
                <c:pt idx="4">
                  <c:v>SLCT — Seal Cut Module</c:v>
                </c:pt>
                <c:pt idx="5">
                  <c:v>ARLD — Airlaid Module</c:v>
                </c:pt>
                <c:pt idx="6">
                  <c:v>TFLD — Trifolder Module</c:v>
                </c:pt>
                <c:pt idx="7">
                  <c:v>PPU — Pulp Unwind</c:v>
                </c:pt>
              </c:strCache>
            </c:strRef>
          </c:cat>
          <c:val>
            <c:numRef>
              <c:f>Hoja1!$B$2:$B$9</c:f>
              <c:numCache>
                <c:formatCode>General</c:formatCode>
                <c:ptCount val="8"/>
                <c:pt idx="0">
                  <c:v>21.2</c:v>
                </c:pt>
                <c:pt idx="1">
                  <c:v>18.3</c:v>
                </c:pt>
                <c:pt idx="2">
                  <c:v>10.5</c:v>
                </c:pt>
                <c:pt idx="3">
                  <c:v>9.1999999999999993</c:v>
                </c:pt>
                <c:pt idx="4">
                  <c:v>6</c:v>
                </c:pt>
                <c:pt idx="5">
                  <c:v>5.2</c:v>
                </c:pt>
                <c:pt idx="6">
                  <c:v>4.5</c:v>
                </c:pt>
                <c:pt idx="7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A9-47B7-AD65-89B1DA873B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58173136"/>
        <c:axId val="369441104"/>
      </c:barChart>
      <c:catAx>
        <c:axId val="1581731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369441104"/>
        <c:crosses val="autoZero"/>
        <c:auto val="1"/>
        <c:lblAlgn val="ctr"/>
        <c:lblOffset val="100"/>
        <c:noMultiLvlLbl val="0"/>
      </c:catAx>
      <c:valAx>
        <c:axId val="369441104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58173136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05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6B3A8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Hoja1!$A$2:$A$9</c:f>
              <c:strCache>
                <c:ptCount val="8"/>
                <c:pt idx="0">
                  <c:v>CS — Central System</c:v>
                </c:pt>
                <c:pt idx="1">
                  <c:v>SLCT — Seal Cut Module</c:v>
                </c:pt>
                <c:pt idx="2">
                  <c:v>TSU — Topsheet Unwind</c:v>
                </c:pt>
                <c:pt idx="3">
                  <c:v>OLP — On Line Printed</c:v>
                </c:pt>
                <c:pt idx="4">
                  <c:v>RPU — Release Paper Unwind</c:v>
                </c:pt>
                <c:pt idx="5">
                  <c:v>MNPL — Main Electrical Cabinets</c:v>
                </c:pt>
                <c:pt idx="6">
                  <c:v>TLU — Transfer Layer Unwind</c:v>
                </c:pt>
                <c:pt idx="7">
                  <c:v>SLNG — Sealing Module</c:v>
                </c:pt>
              </c:strCache>
            </c:strRef>
          </c:cat>
          <c:val>
            <c:numRef>
              <c:f>Hoja1!$B$2:$B$9</c:f>
              <c:numCache>
                <c:formatCode>General</c:formatCode>
                <c:ptCount val="8"/>
                <c:pt idx="0">
                  <c:v>91.6</c:v>
                </c:pt>
                <c:pt idx="1">
                  <c:v>72.2</c:v>
                </c:pt>
                <c:pt idx="2">
                  <c:v>69.599999999999994</c:v>
                </c:pt>
                <c:pt idx="3">
                  <c:v>35.200000000000003</c:v>
                </c:pt>
                <c:pt idx="4">
                  <c:v>33.700000000000003</c:v>
                </c:pt>
                <c:pt idx="5">
                  <c:v>22.6</c:v>
                </c:pt>
                <c:pt idx="6">
                  <c:v>22.2</c:v>
                </c:pt>
                <c:pt idx="7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04-4AE9-A7B3-55F4D899D0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58177776"/>
        <c:axId val="369430064"/>
      </c:barChart>
      <c:catAx>
        <c:axId val="15817777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369430064"/>
        <c:crosses val="autoZero"/>
        <c:auto val="1"/>
        <c:lblAlgn val="ctr"/>
        <c:lblOffset val="100"/>
        <c:noMultiLvlLbl val="0"/>
      </c:catAx>
      <c:valAx>
        <c:axId val="369430064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58177776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05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2E7A5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PCM — Pouch Cut Module</c:v>
                </c:pt>
                <c:pt idx="1">
                  <c:v>RPT — Repitch Module</c:v>
                </c:pt>
                <c:pt idx="2">
                  <c:v>RPA — Release Paper Application</c:v>
                </c:pt>
                <c:pt idx="3">
                  <c:v>FNCT — Final Cutting Module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26.2</c:v>
                </c:pt>
                <c:pt idx="1">
                  <c:v>8.9</c:v>
                </c:pt>
                <c:pt idx="2">
                  <c:v>8.1999999999999993</c:v>
                </c:pt>
                <c:pt idx="3">
                  <c:v>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A9-471F-8F7F-AB0A9E2849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58194480"/>
        <c:axId val="369444944"/>
      </c:barChart>
      <c:catAx>
        <c:axId val="1581944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369444944"/>
        <c:crosses val="autoZero"/>
        <c:auto val="1"/>
        <c:lblAlgn val="ctr"/>
        <c:lblOffset val="100"/>
        <c:noMultiLvlLbl val="0"/>
      </c:catAx>
      <c:valAx>
        <c:axId val="369444944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58194480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00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6B3A8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Hoja1!$A$2:$A$10</c:f>
              <c:strCache>
                <c:ptCount val="9"/>
                <c:pt idx="0">
                  <c:v>ACS — Sistema De Ventiladores</c:v>
                </c:pt>
                <c:pt idx="1">
                  <c:v>FLF — Fluff Forming</c:v>
                </c:pt>
                <c:pt idx="2">
                  <c:v>EMB — Embossing</c:v>
                </c:pt>
                <c:pt idx="3">
                  <c:v>TBL — Tableros Electricos</c:v>
                </c:pt>
                <c:pt idx="4">
                  <c:v>RPU — Release Paper Unwind</c:v>
                </c:pt>
                <c:pt idx="5">
                  <c:v>BSU — Backsheet Unwind</c:v>
                </c:pt>
                <c:pt idx="6">
                  <c:v>PCM — Pouch Cut Module</c:v>
                </c:pt>
                <c:pt idx="7">
                  <c:v>TSU — Topsheet Unwind</c:v>
                </c:pt>
                <c:pt idx="8">
                  <c:v>PCU — Pouch Unwind</c:v>
                </c:pt>
              </c:strCache>
            </c:strRef>
          </c:cat>
          <c:val>
            <c:numRef>
              <c:f>Hoja1!$B$2:$B$10</c:f>
              <c:numCache>
                <c:formatCode>General</c:formatCode>
                <c:ptCount val="9"/>
                <c:pt idx="0">
                  <c:v>17.899999999999999</c:v>
                </c:pt>
                <c:pt idx="1">
                  <c:v>16.8</c:v>
                </c:pt>
                <c:pt idx="2">
                  <c:v>8.9</c:v>
                </c:pt>
                <c:pt idx="3">
                  <c:v>8</c:v>
                </c:pt>
                <c:pt idx="4">
                  <c:v>7.7</c:v>
                </c:pt>
                <c:pt idx="5">
                  <c:v>4.8</c:v>
                </c:pt>
                <c:pt idx="6">
                  <c:v>3.5</c:v>
                </c:pt>
                <c:pt idx="7">
                  <c:v>2.6</c:v>
                </c:pt>
                <c:pt idx="8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DB-4B25-BAD8-201873D2A8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58210720"/>
        <c:axId val="369446864"/>
      </c:barChart>
      <c:catAx>
        <c:axId val="158210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369446864"/>
        <c:crosses val="autoZero"/>
        <c:auto val="1"/>
        <c:lblAlgn val="ctr"/>
        <c:lblOffset val="100"/>
        <c:noMultiLvlLbl val="0"/>
      </c:catAx>
      <c:valAx>
        <c:axId val="369446864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58210720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00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2E7A5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Hoja1!$A$2:$A$9</c:f>
              <c:strCache>
                <c:ptCount val="8"/>
                <c:pt idx="0">
                  <c:v>ETA — Aplicador De Etiqueta</c:v>
                </c:pt>
                <c:pt idx="1">
                  <c:v>ETU — Debobinador De Etiqueta</c:v>
                </c:pt>
                <c:pt idx="2">
                  <c:v>PCO — Pad Cut Off</c:v>
                </c:pt>
                <c:pt idx="3">
                  <c:v>FCO — Final Cut Off</c:v>
                </c:pt>
                <c:pt idx="4">
                  <c:v>SAM — Super Absorbent</c:v>
                </c:pt>
                <c:pt idx="5">
                  <c:v>CDR — Rodillo De Contruccion</c:v>
                </c:pt>
                <c:pt idx="6">
                  <c:v>TFLD — Trifolder Module</c:v>
                </c:pt>
                <c:pt idx="7">
                  <c:v>DBK — Debulker</c:v>
                </c:pt>
              </c:strCache>
            </c:strRef>
          </c:cat>
          <c:val>
            <c:numRef>
              <c:f>Hoja1!$B$2:$B$9</c:f>
              <c:numCache>
                <c:formatCode>General</c:formatCode>
                <c:ptCount val="8"/>
                <c:pt idx="0">
                  <c:v>12</c:v>
                </c:pt>
                <c:pt idx="1">
                  <c:v>7.6</c:v>
                </c:pt>
                <c:pt idx="2">
                  <c:v>4.5999999999999996</c:v>
                </c:pt>
                <c:pt idx="3">
                  <c:v>3.9</c:v>
                </c:pt>
                <c:pt idx="4">
                  <c:v>3.8</c:v>
                </c:pt>
                <c:pt idx="5">
                  <c:v>2.6</c:v>
                </c:pt>
                <c:pt idx="6">
                  <c:v>2.2999999999999998</c:v>
                </c:pt>
                <c:pt idx="7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C2-4544-8C35-2FA27FF220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58217680"/>
        <c:axId val="369453104"/>
      </c:barChart>
      <c:catAx>
        <c:axId val="1582176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369453104"/>
        <c:crosses val="autoZero"/>
        <c:auto val="1"/>
        <c:lblAlgn val="ctr"/>
        <c:lblOffset val="100"/>
        <c:noMultiLvlLbl val="0"/>
      </c:catAx>
      <c:valAx>
        <c:axId val="369453104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58217680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00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2E7A5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&quot; h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Hoja1!$A$2:$A$8</c:f>
              <c:strCache>
                <c:ptCount val="7"/>
                <c:pt idx="0">
                  <c:v>Reparación y reemplazo de componentes</c:v>
                </c:pt>
                <c:pt idx="1">
                  <c:v>Rodamientos, rodillos y transmisión</c:v>
                </c:pt>
                <c:pt idx="2">
                  <c:v>Fajas y correas</c:v>
                </c:pt>
                <c:pt idx="3">
                  <c:v>Corte (cuchillas e insertos)</c:v>
                </c:pt>
                <c:pt idx="4">
                  <c:v>Placas, pockets y soportes</c:v>
                </c:pt>
                <c:pt idx="5">
                  <c:v>Ajustes y seteos mecánicos</c:v>
                </c:pt>
                <c:pt idx="6">
                  <c:v>Falla general / sin detalle</c:v>
                </c:pt>
              </c:strCache>
            </c:strRef>
          </c:cat>
          <c:val>
            <c:numRef>
              <c:f>Hoja1!$B$2:$B$8</c:f>
              <c:numCache>
                <c:formatCode>General</c:formatCode>
                <c:ptCount val="7"/>
                <c:pt idx="0">
                  <c:v>181.9</c:v>
                </c:pt>
                <c:pt idx="1">
                  <c:v>115.3</c:v>
                </c:pt>
                <c:pt idx="2">
                  <c:v>108.6</c:v>
                </c:pt>
                <c:pt idx="3">
                  <c:v>94.4</c:v>
                </c:pt>
                <c:pt idx="4">
                  <c:v>46</c:v>
                </c:pt>
                <c:pt idx="5">
                  <c:v>40</c:v>
                </c:pt>
                <c:pt idx="6">
                  <c:v>20.6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91-49F1-8FA2-CAAC5A13EC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593358767"/>
        <c:axId val="1581028047"/>
      </c:barChart>
      <c:catAx>
        <c:axId val="159335876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1581028047"/>
        <c:crosses val="autoZero"/>
        <c:auto val="1"/>
        <c:lblAlgn val="ctr"/>
        <c:lblOffset val="100"/>
        <c:noMultiLvlLbl val="0"/>
      </c:catAx>
      <c:valAx>
        <c:axId val="1581028047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593358767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05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6B3A8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&quot; h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Hoja1!$A$2:$A$8</c:f>
              <c:strCache>
                <c:ptCount val="7"/>
                <c:pt idx="0">
                  <c:v>Regulación y ajustes electrónicos</c:v>
                </c:pt>
                <c:pt idx="1">
                  <c:v>Servos y sincronización</c:v>
                </c:pt>
                <c:pt idx="2">
                  <c:v>Falla general / sin detalle</c:v>
                </c:pt>
                <c:pt idx="3">
                  <c:v>Control, PLC y comunicación</c:v>
                </c:pt>
                <c:pt idx="4">
                  <c:v>Neumática y vacío</c:v>
                </c:pt>
                <c:pt idx="5">
                  <c:v>Aplicación de adhesivo</c:v>
                </c:pt>
                <c:pt idx="6">
                  <c:v>Motores, variadores y protecciones</c:v>
                </c:pt>
              </c:strCache>
            </c:strRef>
          </c:cat>
          <c:val>
            <c:numRef>
              <c:f>Hoja1!$B$2:$B$8</c:f>
              <c:numCache>
                <c:formatCode>General</c:formatCode>
                <c:ptCount val="7"/>
                <c:pt idx="0">
                  <c:v>1008.5</c:v>
                </c:pt>
                <c:pt idx="1">
                  <c:v>180.3</c:v>
                </c:pt>
                <c:pt idx="2">
                  <c:v>133.69999999999999</c:v>
                </c:pt>
                <c:pt idx="3">
                  <c:v>85.9</c:v>
                </c:pt>
                <c:pt idx="4">
                  <c:v>83.2</c:v>
                </c:pt>
                <c:pt idx="5">
                  <c:v>62.6</c:v>
                </c:pt>
                <c:pt idx="6">
                  <c:v>59.6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7D-43EC-98F5-CB61B02062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593356911"/>
        <c:axId val="1581022287"/>
      </c:barChart>
      <c:catAx>
        <c:axId val="15933569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1581022287"/>
        <c:crosses val="autoZero"/>
        <c:auto val="1"/>
        <c:lblAlgn val="ctr"/>
        <c:lblOffset val="100"/>
        <c:noMultiLvlLbl val="0"/>
      </c:catAx>
      <c:valAx>
        <c:axId val="1581022287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593356911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05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Planes</c:v>
                </c:pt>
              </c:strCache>
            </c:strRef>
          </c:tx>
          <c:dPt>
            <c:idx val="0"/>
            <c:bubble3D val="0"/>
            <c:spPr>
              <a:solidFill>
                <a:srgbClr val="C98A1B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350-46B6-895B-6BF72BFB052C}"/>
              </c:ext>
            </c:extLst>
          </c:dPt>
          <c:dPt>
            <c:idx val="1"/>
            <c:bubble3D val="0"/>
            <c:spPr>
              <a:solidFill>
                <a:srgbClr val="6B3A8B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0350-46B6-895B-6BF72BFB052C}"/>
              </c:ext>
            </c:extLst>
          </c:dPt>
          <c:dPt>
            <c:idx val="2"/>
            <c:bubble3D val="0"/>
            <c:spPr>
              <a:solidFill>
                <a:srgbClr val="2E7A5E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350-46B6-895B-6BF72BFB052C}"/>
              </c:ext>
            </c:extLst>
          </c:dPt>
          <c:dPt>
            <c:idx val="3"/>
            <c:bubble3D val="0"/>
            <c:spPr>
              <a:solidFill>
                <a:srgbClr val="007A7A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0350-46B6-895B-6BF72BFB052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FFFFFF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Hoja1!$A$2:$A$5</c:f>
              <c:strCache>
                <c:ptCount val="4"/>
                <c:pt idx="0">
                  <c:v>Eléctrico</c:v>
                </c:pt>
                <c:pt idx="1">
                  <c:v>Electrónico</c:v>
                </c:pt>
                <c:pt idx="2">
                  <c:v>Mecánico</c:v>
                </c:pt>
                <c:pt idx="3">
                  <c:v>Adhesivos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896</c:v>
                </c:pt>
                <c:pt idx="1">
                  <c:v>657</c:v>
                </c:pt>
                <c:pt idx="2">
                  <c:v>485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50-46B6-895B-6BF72BFB05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4B5563"/>
              </a:solidFill>
              <a:latin typeface="Calibri" panose="020F0502020204030204" pitchFamily="34" charset="0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20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 mantiene</c:v>
                </c:pt>
              </c:strCache>
            </c:strRef>
          </c:tx>
          <c:spPr>
            <a:solidFill>
              <a:srgbClr val="5B7DB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[&lt;12]&quot;&quot;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FFFFFF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Eléctrico</c:v>
                </c:pt>
                <c:pt idx="1">
                  <c:v>Electrónico</c:v>
                </c:pt>
                <c:pt idx="2">
                  <c:v>Mecánico</c:v>
                </c:pt>
                <c:pt idx="3">
                  <c:v>Adhesivos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748</c:v>
                </c:pt>
                <c:pt idx="1">
                  <c:v>82</c:v>
                </c:pt>
                <c:pt idx="2">
                  <c:v>122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7E-4C94-A0AB-D315D248FBF2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Modificar</c:v>
                </c:pt>
              </c:strCache>
            </c:strRef>
          </c:tx>
          <c:spPr>
            <a:solidFill>
              <a:srgbClr val="E3A21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[&lt;12]&quot;&quot;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FFFFFF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Eléctrico</c:v>
                </c:pt>
                <c:pt idx="1">
                  <c:v>Electrónico</c:v>
                </c:pt>
                <c:pt idx="2">
                  <c:v>Mecánico</c:v>
                </c:pt>
                <c:pt idx="3">
                  <c:v>Adhesivos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22</c:v>
                </c:pt>
                <c:pt idx="1">
                  <c:v>36</c:v>
                </c:pt>
                <c:pt idx="2">
                  <c:v>72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7E-4C94-A0AB-D315D248FBF2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 elimina</c:v>
                </c:pt>
              </c:strCache>
            </c:strRef>
          </c:tx>
          <c:spPr>
            <a:solidFill>
              <a:srgbClr val="C0392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[&lt;12]&quot;&quot;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FFFFFF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Eléctrico</c:v>
                </c:pt>
                <c:pt idx="1">
                  <c:v>Electrónico</c:v>
                </c:pt>
                <c:pt idx="2">
                  <c:v>Mecánico</c:v>
                </c:pt>
                <c:pt idx="3">
                  <c:v>Adhesivos</c:v>
                </c:pt>
              </c:strCache>
            </c:strRef>
          </c:cat>
          <c:val>
            <c:numRef>
              <c:f>Hoja1!$D$2:$D$5</c:f>
              <c:numCache>
                <c:formatCode>General</c:formatCode>
                <c:ptCount val="4"/>
                <c:pt idx="0">
                  <c:v>87</c:v>
                </c:pt>
                <c:pt idx="1">
                  <c:v>56</c:v>
                </c:pt>
                <c:pt idx="2">
                  <c:v>73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D7E-4C94-A0AB-D315D248FBF2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Se agrega</c:v>
                </c:pt>
              </c:strCache>
            </c:strRef>
          </c:tx>
          <c:spPr>
            <a:solidFill>
              <a:srgbClr val="2E9E5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[&lt;12]&quot;&quot;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FFFFFF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Eléctrico</c:v>
                </c:pt>
                <c:pt idx="1">
                  <c:v>Electrónico</c:v>
                </c:pt>
                <c:pt idx="2">
                  <c:v>Mecánico</c:v>
                </c:pt>
                <c:pt idx="3">
                  <c:v>Adhesivos</c:v>
                </c:pt>
              </c:strCache>
            </c:strRef>
          </c:cat>
          <c:val>
            <c:numRef>
              <c:f>Hoja1!$E$2:$E$5</c:f>
              <c:numCache>
                <c:formatCode>General</c:formatCode>
                <c:ptCount val="4"/>
                <c:pt idx="0">
                  <c:v>39</c:v>
                </c:pt>
                <c:pt idx="1">
                  <c:v>180</c:v>
                </c:pt>
                <c:pt idx="2">
                  <c:v>62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D7E-4C94-A0AB-D315D248FBF2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Sin decisión</c:v>
                </c:pt>
              </c:strCache>
            </c:strRef>
          </c:tx>
          <c:spPr>
            <a:solidFill>
              <a:srgbClr val="B8BEC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[&lt;12]&quot;&quot;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Eléctrico</c:v>
                </c:pt>
                <c:pt idx="1">
                  <c:v>Electrónico</c:v>
                </c:pt>
                <c:pt idx="2">
                  <c:v>Mecánico</c:v>
                </c:pt>
                <c:pt idx="3">
                  <c:v>Adhesivos</c:v>
                </c:pt>
              </c:strCache>
            </c:strRef>
          </c:cat>
          <c:val>
            <c:numRef>
              <c:f>Hoja1!$F$2:$F$5</c:f>
              <c:numCache>
                <c:formatCode>General</c:formatCode>
                <c:ptCount val="4"/>
                <c:pt idx="0">
                  <c:v>0</c:v>
                </c:pt>
                <c:pt idx="1">
                  <c:v>303</c:v>
                </c:pt>
                <c:pt idx="2">
                  <c:v>156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D7E-4C94-A0AB-D315D248FB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593360159"/>
        <c:axId val="1580993487"/>
      </c:barChart>
      <c:catAx>
        <c:axId val="159336015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1580993487"/>
        <c:crosses val="autoZero"/>
        <c:auto val="1"/>
        <c:lblAlgn val="ctr"/>
        <c:lblOffset val="100"/>
        <c:noMultiLvlLbl val="0"/>
      </c:catAx>
      <c:valAx>
        <c:axId val="1580993487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593360159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rgbClr val="4B5563"/>
              </a:solidFill>
              <a:latin typeface="Calibri" panose="020F0502020204030204" pitchFamily="34" charset="0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10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Planes</c:v>
                </c:pt>
              </c:strCache>
            </c:strRef>
          </c:tx>
          <c:spPr>
            <a:solidFill>
              <a:srgbClr val="8A96A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Pt>
            <c:idx val="0"/>
            <c:invertIfNegative val="0"/>
            <c:bubble3D val="0"/>
            <c:spPr>
              <a:solidFill>
                <a:srgbClr val="1F2E4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>
                    <a:noFill/>
                  </a14:hiddenLine>
                </a:ext>
              </a:extLst>
            </c:spPr>
            <c:extLst>
              <c:ext xmlns:c16="http://schemas.microsoft.com/office/drawing/2014/chart" uri="{C3380CC4-5D6E-409C-BE32-E72D297353CC}">
                <c16:uniqueId val="{00000003-4661-45AF-B304-6D4D53B9B9D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Hoja1!$A$2:$A$7</c:f>
              <c:strCache>
                <c:ptCount val="6"/>
                <c:pt idx="0">
                  <c:v>3 Meses</c:v>
                </c:pt>
                <c:pt idx="1">
                  <c:v>6 Meses</c:v>
                </c:pt>
                <c:pt idx="2">
                  <c:v>1 Mes</c:v>
                </c:pt>
                <c:pt idx="3">
                  <c:v>12 Meses</c:v>
                </c:pt>
                <c:pt idx="4">
                  <c:v>2 Años</c:v>
                </c:pt>
                <c:pt idx="5">
                  <c:v>Otras</c:v>
                </c:pt>
              </c:strCache>
            </c:strRef>
          </c:cat>
          <c:val>
            <c:numRef>
              <c:f>Hoja1!$B$2:$B$7</c:f>
              <c:numCache>
                <c:formatCode>General</c:formatCode>
                <c:ptCount val="6"/>
                <c:pt idx="0">
                  <c:v>342</c:v>
                </c:pt>
                <c:pt idx="1">
                  <c:v>48</c:v>
                </c:pt>
                <c:pt idx="2">
                  <c:v>20</c:v>
                </c:pt>
                <c:pt idx="3">
                  <c:v>12</c:v>
                </c:pt>
                <c:pt idx="4">
                  <c:v>5</c:v>
                </c:pt>
                <c:pt idx="5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61-45AF-B304-6D4D53B9B9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582933615"/>
        <c:axId val="1581004047"/>
      </c:barChart>
      <c:catAx>
        <c:axId val="158293361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1581004047"/>
        <c:crosses val="autoZero"/>
        <c:auto val="1"/>
        <c:lblAlgn val="ctr"/>
        <c:lblOffset val="100"/>
        <c:noMultiLvlLbl val="0"/>
      </c:catAx>
      <c:valAx>
        <c:axId val="1581004047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582933615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10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2E7A5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Desgaste de faja de transporte · FCO</c:v>
                </c:pt>
                <c:pt idx="1">
                  <c:v>Falla de corte · SLA</c:v>
                </c:pt>
                <c:pt idx="2">
                  <c:v>Falla de corte · PCO</c:v>
                </c:pt>
                <c:pt idx="3">
                  <c:v>Desgaste de placas de pocket · FLF</c:v>
                </c:pt>
                <c:pt idx="4">
                  <c:v>Desgaste de faja de transporte · SWA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17.9</c:v>
                </c:pt>
                <c:pt idx="1">
                  <c:v>14.0</c:v>
                </c:pt>
                <c:pt idx="2">
                  <c:v>13.2</c:v>
                </c:pt>
                <c:pt idx="3">
                  <c:v>12.9</c:v>
                </c:pt>
                <c:pt idx="4">
                  <c:v>12.6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5F-4AEB-94B0-2849A11352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42967679"/>
        <c:axId val="369417104"/>
      </c:barChart>
      <c:catAx>
        <c:axId val="4296767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369417104"/>
        <c:crosses val="autoZero"/>
        <c:auto val="1"/>
        <c:lblAlgn val="ctr"/>
        <c:lblOffset val="100"/>
        <c:noMultiLvlLbl val="0"/>
      </c:catAx>
      <c:valAx>
        <c:axId val="369417104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42967679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05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6B3A8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Regulación electrónica · CS</c:v>
                </c:pt>
                <c:pt idx="1">
                  <c:v>Regulación electrónica · SAM</c:v>
                </c:pt>
                <c:pt idx="2">
                  <c:v>Regulación electrónica · STK</c:v>
                </c:pt>
                <c:pt idx="3">
                  <c:v>Regulación electrónica · SLU</c:v>
                </c:pt>
                <c:pt idx="4">
                  <c:v>Regulación electrónica · TSV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156.7</c:v>
                </c:pt>
                <c:pt idx="1">
                  <c:v>50.3</c:v>
                </c:pt>
                <c:pt idx="2">
                  <c:v>45.4</c:v>
                </c:pt>
                <c:pt idx="3">
                  <c:v>38.1</c:v>
                </c:pt>
                <c:pt idx="4">
                  <c:v>31.3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60-478F-B4F1-1139276DC4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39218607"/>
        <c:axId val="369419984"/>
      </c:barChart>
      <c:catAx>
        <c:axId val="3921860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369419984"/>
        <c:crosses val="autoZero"/>
        <c:auto val="1"/>
        <c:lblAlgn val="ctr"/>
        <c:lblOffset val="100"/>
        <c:noMultiLvlLbl val="0"/>
      </c:catAx>
      <c:valAx>
        <c:axId val="369419984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39218607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05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2E7A5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Reemplazo de componentes · FNCT</c:v>
                </c:pt>
                <c:pt idx="1">
                  <c:v>Ajuste de otros seteos · BGR</c:v>
                </c:pt>
                <c:pt idx="2">
                  <c:v>Reemplazo de componentes · WFM</c:v>
                </c:pt>
                <c:pt idx="3">
                  <c:v>Ajuste de otros seteos · BG2</c:v>
                </c:pt>
                <c:pt idx="4">
                  <c:v>Reemplazo de componentes · SPK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13.8</c:v>
                </c:pt>
                <c:pt idx="1">
                  <c:v>10.1</c:v>
                </c:pt>
                <c:pt idx="2">
                  <c:v>9.5</c:v>
                </c:pt>
                <c:pt idx="3">
                  <c:v>7.3</c:v>
                </c:pt>
                <c:pt idx="4">
                  <c:v>6.0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5F-4AEB-94B0-2849A11352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42967679"/>
        <c:axId val="369417104"/>
      </c:barChart>
      <c:catAx>
        <c:axId val="4296767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369417104"/>
        <c:crosses val="autoZero"/>
        <c:auto val="1"/>
        <c:lblAlgn val="ctr"/>
        <c:lblOffset val="100"/>
        <c:noMultiLvlLbl val="0"/>
      </c:catAx>
      <c:valAx>
        <c:axId val="369417104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42967679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05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6B3A8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Regulación electrónica · BG1</c:v>
                </c:pt>
                <c:pt idx="1">
                  <c:v>Regulación electrónica · SLCT</c:v>
                </c:pt>
                <c:pt idx="2">
                  <c:v>Falla general (sin detalle) · TSU</c:v>
                </c:pt>
                <c:pt idx="3">
                  <c:v>Falla general (sin detalle) · STK</c:v>
                </c:pt>
                <c:pt idx="4">
                  <c:v>Regulación electrónica · OLP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64.5</c:v>
                </c:pt>
                <c:pt idx="1">
                  <c:v>42.9</c:v>
                </c:pt>
                <c:pt idx="2">
                  <c:v>35.1</c:v>
                </c:pt>
                <c:pt idx="3">
                  <c:v>35.0</c:v>
                </c:pt>
                <c:pt idx="4">
                  <c:v>29.3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60-478F-B4F1-1139276DC4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39218607"/>
        <c:axId val="369419984"/>
      </c:barChart>
      <c:catAx>
        <c:axId val="3921860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369419984"/>
        <c:crosses val="autoZero"/>
        <c:auto val="1"/>
        <c:lblAlgn val="ctr"/>
        <c:lblOffset val="100"/>
        <c:noMultiLvlLbl val="0"/>
      </c:catAx>
      <c:valAx>
        <c:axId val="369419984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39218607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05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2E7A5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Reparación mecánica · PCM</c:v>
                </c:pt>
                <c:pt idx="1">
                  <c:v>Reparación mecánica · CTN</c:v>
                </c:pt>
                <c:pt idx="2">
                  <c:v>Reparación mecánica · BG1</c:v>
                </c:pt>
                <c:pt idx="3">
                  <c:v>Cambio de componentes · STK</c:v>
                </c:pt>
                <c:pt idx="4">
                  <c:v>Reparación mecánica · RPT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17.3</c:v>
                </c:pt>
                <c:pt idx="1">
                  <c:v>10.8</c:v>
                </c:pt>
                <c:pt idx="2">
                  <c:v>8.1</c:v>
                </c:pt>
                <c:pt idx="3">
                  <c:v>7.3</c:v>
                </c:pt>
                <c:pt idx="4">
                  <c:v>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5F-4AEB-94B0-2849A11352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42967679"/>
        <c:axId val="369417104"/>
      </c:barChart>
      <c:catAx>
        <c:axId val="4296767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369417104"/>
        <c:crosses val="autoZero"/>
        <c:auto val="1"/>
        <c:lblAlgn val="ctr"/>
        <c:lblOffset val="100"/>
        <c:noMultiLvlLbl val="0"/>
      </c:catAx>
      <c:valAx>
        <c:axId val="369417104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42967679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05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6B3A8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Alarma de servo · STK</c:v>
                </c:pt>
                <c:pt idx="1">
                  <c:v>Alarma de servo · BG1</c:v>
                </c:pt>
                <c:pt idx="2">
                  <c:v>Ajuste electrónico · BG1</c:v>
                </c:pt>
                <c:pt idx="3">
                  <c:v>Alarma de servo · MPK</c:v>
                </c:pt>
                <c:pt idx="4">
                  <c:v>Ajuste de conexiones · STK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14.5</c:v>
                </c:pt>
                <c:pt idx="1">
                  <c:v>13.6</c:v>
                </c:pt>
                <c:pt idx="2">
                  <c:v>12.7</c:v>
                </c:pt>
                <c:pt idx="3">
                  <c:v>12.6</c:v>
                </c:pt>
                <c:pt idx="4">
                  <c:v>11.2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60-478F-B4F1-1139276DC4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39218607"/>
        <c:axId val="369419984"/>
      </c:barChart>
      <c:catAx>
        <c:axId val="3921860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369419984"/>
        <c:crosses val="autoZero"/>
        <c:auto val="1"/>
        <c:lblAlgn val="ctr"/>
        <c:lblOffset val="100"/>
        <c:noMultiLvlLbl val="0"/>
      </c:catAx>
      <c:valAx>
        <c:axId val="369419984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39218607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05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2E7A5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Componente mecánico dañado · ETA</c:v>
                </c:pt>
                <c:pt idx="1">
                  <c:v>Componente mecánico dañado · ETU</c:v>
                </c:pt>
                <c:pt idx="2">
                  <c:v>Componente mecánico dañado · PCO</c:v>
                </c:pt>
                <c:pt idx="3">
                  <c:v>Componente mecánico dañado · SAM</c:v>
                </c:pt>
                <c:pt idx="4">
                  <c:v>Componente mecánico dañado · FCO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11.2</c:v>
                </c:pt>
                <c:pt idx="1">
                  <c:v>6.2</c:v>
                </c:pt>
                <c:pt idx="2">
                  <c:v>4.6</c:v>
                </c:pt>
                <c:pt idx="3">
                  <c:v>3.8</c:v>
                </c:pt>
                <c:pt idx="4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5F-4AEB-94B0-2849A11352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42967679"/>
        <c:axId val="369417104"/>
      </c:barChart>
      <c:catAx>
        <c:axId val="4296767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369417104"/>
        <c:crosses val="autoZero"/>
        <c:auto val="1"/>
        <c:lblAlgn val="ctr"/>
        <c:lblOffset val="100"/>
        <c:noMultiLvlLbl val="0"/>
      </c:catAx>
      <c:valAx>
        <c:axId val="369417104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42967679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05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6B3A8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4B5563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Regulación electrónica · STK</c:v>
                </c:pt>
                <c:pt idx="1">
                  <c:v>Adhesivo pobre · Aplicador tela central</c:v>
                </c:pt>
                <c:pt idx="2">
                  <c:v>Componente mecánico dañado · Aplicador tela central</c:v>
                </c:pt>
                <c:pt idx="3">
                  <c:v>Falla de conexión · Aplicador tela barrera</c:v>
                </c:pt>
                <c:pt idx="4">
                  <c:v>Falla de conexión · STK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7.8</c:v>
                </c:pt>
                <c:pt idx="1">
                  <c:v>4.9</c:v>
                </c:pt>
                <c:pt idx="2">
                  <c:v>4.6</c:v>
                </c:pt>
                <c:pt idx="3">
                  <c:v>3.1</c:v>
                </c:pt>
                <c:pt idx="4">
                  <c:v>3.0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60-478F-B4F1-1139276DC4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39218607"/>
        <c:axId val="369419984"/>
      </c:barChart>
      <c:catAx>
        <c:axId val="3921860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DE2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4B5563"/>
                </a:solidFill>
                <a:latin typeface="Calibri" panose="020F0502020204030204" pitchFamily="34" charset="0"/>
                <a:ea typeface="+mn-ea"/>
                <a:cs typeface="+mn-cs"/>
              </a:defRPr>
            </a:pPr>
            <a:endParaRPr lang="es-PE"/>
          </a:p>
        </c:txPr>
        <c:crossAx val="369419984"/>
        <c:crosses val="autoZero"/>
        <c:auto val="1"/>
        <c:lblAlgn val="ctr"/>
        <c:lblOffset val="100"/>
        <c:noMultiLvlLbl val="0"/>
      </c:catAx>
      <c:valAx>
        <c:axId val="369419984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39218607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050">
          <a:solidFill>
            <a:srgbClr val="4B5563"/>
          </a:solidFill>
          <a:latin typeface="Calibri" panose="020F0502020204030204" pitchFamily="34" charset="0"/>
        </a:defRPr>
      </a:pPr>
      <a:endParaRPr lang="es-P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F2567-5681-41DF-B8C0-713A07498F7C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82B00-58DE-4825-ACDA-643BBB8BC59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51861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Presentación de la propuesta de reestructuración de planes preventivos. Se basa en el registro de delays de enero a setiembre 2026 y en la evaluación plan por plan realizada por cada especialidad (mecánica, electrónica y eléctrica).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82B00-58DE-4825-ACDA-643BBB8BC599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11586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Estructura: diagnóstico con datos de delays, metodología, módulos críticos y sus fallas más comunes, evaluación de planes, propuestas y pasos para implementarlas.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18C38-3EA0-4407-B4A3-865B1DA16E08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67637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Motivación: los delays no están distribuidos de forma uniforme; se concentran en pocos módulos. Al mismo tiempo, la base de planes preventivos arrastra planes duplicados, fuera de alcance o con frecuencias poco alineadas al modo de falla. El análisis cubre enero a setiembre 2026.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82B00-58DE-4825-ACDA-643BBB8BC599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8719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BCM (PI7, PI8, PI9, PI11) acumula 1,824 h de delay, más de la mitad del total. En todos los grupos predomina el delay de tipo electrónico, que representa 71% de las horas.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82B00-58DE-4825-ACDA-643BBB8BC599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74784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Enero registró 481.1 h y agosto 342.8 h. Por área, aplicadores/formación de producto y debobinadores son las que más horas acumulan, seguidas de empaque.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82B00-58DE-4825-ACDA-643BBB8BC599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0534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propuesta se construyó en cinco pasos, desde el registro de delays hasta una base consolidada de planes. Los criterios de clasificación permiten filtrar los planes por alcance (dentro o fuera del 80%), tipo (inspección de ruta o mantenimiento) y especialidad.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82B00-58DE-4825-ACDA-643BBB8BC599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90785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Cada barra muestra qué parte del delay total de la especialidad explican los módulos priorizados. Ningún grupo llega al 80% con los módulos asignados: el delay restante se reparte en muchos módulos pequeños. Se decidió no agregar módulos para mantener el foco.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82B00-58DE-4825-ACDA-643BBB8BC599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16709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En BCM, el módulo con más delay mecánico es FCO – Final Cut Off (52.8 h). En electrónico destaca el Central System (210.5 h), seguido de ICU, SLA y SAM.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82B00-58DE-4825-ACDA-643BBB8BC599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59998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En PADS el delay electrónico (728.8 h) es cuatro veces el mecánico (180.0 h). Los tres primeros módulos electrónicos suman más de 230 h.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82B00-58DE-4825-ACDA-643BBB8BC599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506632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PF5: PCM – Pouch Cut Module concentra el delay mecánico (26.2 h). PA1: el aplicador y el debobinador de etiqueta (ETA, ETU) lideran el delay mecánico.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82B00-58DE-4825-ACDA-643BBB8BC599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7551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Las 270 descripciones de falla del registro se agruparon por similitud (por ejemplo, 'Regulacion Electronica', 'Regulacion electrónica' y 'Elec - Regulacion Electronica'). En mecánico, fajas, rodamientos/rodillos y corte suman 50% del delay; en electrónico, la regulación y ajustes electrónicos explican 55%.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18C38-3EA0-4407-B4A3-865B1DA16E08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98311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Cada tipo de falla agrupa descripciones parecidas del registro de delays. La última columna muestra los tres módulos donde ese tipo de falla suma más horas; así se ve qué módulos comparten el mismo problema y dónde enfocar los planes.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18C38-3EA0-4407-B4A3-865B1DA16E08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2466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base consolidada tiene 2,093 planes: 896 eléctricos, 657 electrónicos (incluye instrumentación), 485 mecánicos y 55 de adhesivos. 63% está dentro del alcance del 80% y 35% son inspecciones de ruta.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18C38-3EA0-4407-B4A3-865B1DA16E08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63977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Resultado de la evaluación plan por plan. Los planes sin decisión corresponden sobre todo a instrumentación (SC_INS) y adhesivos (SC_ADHE), que se incorporaron recientemente a la base, y a planes mecánicos fuera del 80%.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18C38-3EA0-4407-B4A3-865B1DA16E08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49465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Se definió nueva frecuencia para 458 planes; la mayoría queda cada 3 meses. En puestos de trabajo, 31 planes mecánicos pasan al técnico operador (SC_OPE), lo que requiere validación con producción y capacitación.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18C38-3EA0-4407-B4A3-865B1DA16E08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2526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Propuestas por especialidad. Mecánico y electrónico vienen del análisis de módulos críticos; eléctrico, de la evaluación de planes de planta; adhesivos, del análisis de coleros y aplicadores y de los planes SC_ADHE incorporados a la base.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18C38-3EA0-4407-B4A3-865B1DA16E08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197145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Impacto en SAP: se crean 281 planes, se dan de baja 216 y se modifican 130. Las altas se explican sobre todo por la estandarización de planes existentes en todas las máquinas del grupo.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18C38-3EA0-4407-B4A3-865B1DA16E08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29386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implementación se propone en cuatro fases. Primero se cierran los planes sin decisión y se unifican criterios; luego se valida con producción (planes que pasan al técnico operador) y EHS, se carga en SAP y se hace seguimiento con el KPI de horas de delay.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18C38-3EA0-4407-B4A3-865B1DA16E08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755009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Cierre con los tres mensajes clave y apertura a preguntas.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18C38-3EA0-4407-B4A3-865B1DA16E08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260849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Top 5 de fallas de BCM por horas de delay, según la hoja Fallas por módulo. Mecánico, 70.7 h (19% del delay mecánico analizado): Desgaste de faja de transporte · FCO (17.9 h); Falla de corte · SLA (14.0 h); Falla de corte · PCO (13.2 h); Desgaste de placas de pocket · FLF (12.9 h); Desgaste de faja de transporte · SWA (12.6 h). Electrónico, 321.9 h (31% del delay electrónico analizado): Regulación electrónica · CS (156.7 h); Regulación electrónica · SAM (50.3 h); Regulación electrónica · STK (45.4 h); Regulación electrónica · SLU (38.1 h); Regulación electrónica · TSV (31.3 h).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82B00-58DE-4825-ACDA-643BBB8BC599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34988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Top 5 de fallas de PADS por horas de delay, según la hoja Fallas por módulo. Mecánico, 46.7 h (37% del delay mecánico analizado): Reemplazo de componentes · FNCT (13.8 h); Ajuste de otros seteos · BGR (10.1 h); Reemplazo de componentes · WFM (9.5 h); Ajuste de otros seteos · BG2 (7.3 h); Reemplazo de componentes · SPK (6.0 h). Electrónico, 206.9 h (38% del delay electrónico analizado): Regulación electrónica · BG1 (64.5 h); Regulación electrónica · SLCT (42.9 h); Falla general (sin detalle) · TSU (35.1 h); Falla general (sin detalle) · STK (35.0 h); Regulación electrónica · OLP (29.3 h).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82B00-58DE-4825-ACDA-643BBB8BC599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82104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Top 5 de fallas de PF5 por horas de delay, según la hoja Fallas por módulo. Mecánico, 50.0 h (52% del delay mecánico analizado): Reparación mecánica · PCM (17.3 h); Reparación mecánica · CTN (10.8 h); Reparación mecánica · BG1 (8.1 h); Cambio de componentes · STK (7.3 h); Reparación mecánica · RPT (6.7 h). Electrónico, 64.6 h (34% del delay electrónico analizado): Alarma de servo · STK (14.5 h); Alarma de servo · BG1 (13.6 h); Ajuste electrónico · BG1 (12.7 h); Alarma de servo · MPK (12.6 h); Ajuste de conexiones · STK (11.2 h).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82B00-58DE-4825-ACDA-643BBB8BC599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86920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Top 5 de fallas de PA1 por horas de delay, según la hoja Fallas por módulo. Mecánico, 29.5 h (76% del delay mecánico analizado): Componente mecánico dañado · ETA (11.2 h); Componente mecánico dañado · ETU (6.2 h); Componente mecánico dañado · PCO (4.6 h); Componente mecánico dañado · SAM (3.8 h); Componente mecánico dañado · FCO (3.8 h). Electrónico, 23.4 h (57% del delay electrónico analizado): Regulación electrónica · STK (7.8 h); Adhesivo pobre · Aplicador tela central (4.9 h); Componente mecánico dañado · Aplicador tela central (4.6 h); Falla de conexión · Aplicador tela barrera (3.1 h); Falla de conexión · STK (3.0 h).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82B00-58DE-4825-ACDA-643BBB8BC599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072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A9313-9816-B3B5-6576-CF966FCA7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AD48BA-EADA-81DE-042B-429CF1AD8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4608BB-A8C0-0C0C-76AD-FCD8C89F2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1348-72EB-4D37-97BC-5C98CD43B867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201002-30FE-09E1-CF51-076088EEF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46231C-CE97-C226-0B2D-D8FFA7069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EB8C7-6669-4D0E-B242-6CC79FC5ED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9982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2F9B3F-3B38-BCFF-AC13-01E7F219E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1E90CC-1DD8-E7A5-F4FA-BF11C4F34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B44C12-56F4-0400-2E78-120C7743F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1348-72EB-4D37-97BC-5C98CD43B867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C6ABC6-3122-2012-F679-90E1E76C3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735B7C-83C6-2223-F89F-8323C40F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EB8C7-6669-4D0E-B242-6CC79FC5ED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42732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02293-EE18-6A53-DC8C-C33336FA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E3C614-4D75-A69D-BDE6-B01D62970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436D7D-D398-E168-9BEE-6597FFC6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1348-72EB-4D37-97BC-5C98CD43B867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9A6BB7-0872-DADF-A8A2-17C0EC4F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FF8929-6691-BB5A-1510-A0B3F02C6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EB8C7-6669-4D0E-B242-6CC79FC5ED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47893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A131F5-33C1-05DA-1C14-015F435EC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E97C7E-172A-74E4-9568-66D23D4FD1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044455-4D78-1DEA-358A-643F526EA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CBB82B-7874-A0E2-25A0-3517BAFF4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1348-72EB-4D37-97BC-5C98CD43B867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1A272D-9EF1-A6A7-605C-1F7F6EE3E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249042-EEBC-9BBF-58FB-EED2A3B2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EB8C7-6669-4D0E-B242-6CC79FC5ED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6174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0BA22-7DB9-B0C9-93C0-6BC637516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CC4EC-17A3-6124-D727-CD0E87F2A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359B3D-58A6-4CE2-52EF-48B6B2986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DC62BEE-6BDC-3B60-FC8C-B5A5940A84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89D7014-0EBE-7029-5E97-B336A3F93F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6E57E6C-21B0-A845-2F8E-BD8AC08C4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1348-72EB-4D37-97BC-5C98CD43B867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1DC7649-55C1-166C-89B0-BFCF4EA2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12E6A5-AF59-E839-E484-3E9095007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EB8C7-6669-4D0E-B242-6CC79FC5ED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3466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1561C-9C27-9288-6248-4B7369BE9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49979FE-1CCC-690C-3B8D-F7C4117AA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1348-72EB-4D37-97BC-5C98CD43B867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373356E-DAB5-2C8F-8010-B2BE2727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4B7C41-04C7-4320-51F2-33A0B9AD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EB8C7-6669-4D0E-B242-6CC79FC5ED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890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A6A451-088B-E2D0-4C3D-866261AA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1348-72EB-4D37-97BC-5C98CD43B867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356043-5880-5738-A0C0-CDDFB2038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E12493-4C6E-39F2-4084-681242A38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EB8C7-6669-4D0E-B242-6CC79FC5ED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14640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F2DFE-6B0B-54F3-E788-6A141C9CA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936A9D-81E2-DAC4-201F-E95ABE89B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3F337AC-50C3-B0C6-91AD-E0C3E7F7E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372A7A-874C-9E5B-B89B-AAA4D8F34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1348-72EB-4D37-97BC-5C98CD43B867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DF5CBC-A8FC-DAC8-36E1-69A256792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A3DA85-B320-AA21-01C9-407C3490B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EB8C7-6669-4D0E-B242-6CC79FC5ED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375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594D7F-C09A-1BA0-F52D-8DEF76DD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EB3819B-76DC-B0AD-A50C-E59E884BCB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9AA3CE5-8285-5568-3B6A-BC7066923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83E906-F9A7-7CEF-81B9-AD4B40D7C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1348-72EB-4D37-97BC-5C98CD43B867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42589D-5112-9D31-22BA-C854A00A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7924FF-7F4C-04CB-88F3-43B55AD22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EB8C7-6669-4D0E-B242-6CC79FC5ED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219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1D45A-A230-6B72-7282-A78BBADF3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AA403D-A7D9-74AA-55A0-CDC6474F7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28FA4C-3A5D-BFE2-8652-5E48EDA50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1348-72EB-4D37-97BC-5C98CD43B867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8F1275-9772-C8FF-0A83-7E9048214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8A5F39-7CEE-718D-7224-C7BDFCA4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EB8C7-6669-4D0E-B242-6CC79FC5ED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6282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1EC261A-9562-AC89-BC5B-92FD8C379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88BC7E-6C69-E763-15DD-D6F0948BF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996D9-5F9F-6C28-DFCC-6666CBD04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1348-72EB-4D37-97BC-5C98CD43B867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FDB22B-23B7-64CF-06BF-07F763EB4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867F0A-642C-50AF-850E-4E51A882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EB8C7-6669-4D0E-B242-6CC79FC5ED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107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FDBCAAC-C6CF-EF76-757F-285C2BA4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31A1DD-E458-529D-1DCD-2A62024A8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BEA4AD-3976-30F7-B23F-D60B0C585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B61348-72EB-4D37-97BC-5C98CD43B867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2D6A5B-736C-4609-A90F-DF27D9BC6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BD0DDC-103E-9206-3FE7-E7B546947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3EB8C7-6669-4D0E-B242-6CC79FC5ED3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84489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chart" Target="../charts/chart1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chart" Target="../charts/chart1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chart" Target="../charts/chart20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chart" Target="../charts/chart2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E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FD47882A-A82A-75FF-1CF1-345BA8366035}"/>
              </a:ext>
            </a:extLst>
          </p:cNvPr>
          <p:cNvSpPr/>
          <p:nvPr/>
        </p:nvSpPr>
        <p:spPr>
          <a:xfrm>
            <a:off x="7620000" y="-1397000"/>
            <a:ext cx="6604000" cy="6604000"/>
          </a:xfrm>
          <a:prstGeom prst="ellipse">
            <a:avLst/>
          </a:prstGeom>
          <a:solidFill>
            <a:srgbClr val="2B3F66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51B0264-678A-99C9-1D98-438E906FDE04}"/>
              </a:ext>
            </a:extLst>
          </p:cNvPr>
          <p:cNvSpPr/>
          <p:nvPr/>
        </p:nvSpPr>
        <p:spPr>
          <a:xfrm>
            <a:off x="9652000" y="3810000"/>
            <a:ext cx="4064000" cy="4064000"/>
          </a:xfrm>
          <a:prstGeom prst="ellipse">
            <a:avLst/>
          </a:prstGeom>
          <a:solidFill>
            <a:srgbClr val="34507F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BA0C540-8731-1CD5-CFEB-838DA02D538D}"/>
              </a:ext>
            </a:extLst>
          </p:cNvPr>
          <p:cNvSpPr/>
          <p:nvPr/>
        </p:nvSpPr>
        <p:spPr>
          <a:xfrm>
            <a:off x="8585200" y="1498600"/>
            <a:ext cx="279400" cy="279400"/>
          </a:xfrm>
          <a:prstGeom prst="ellipse">
            <a:avLst/>
          </a:prstGeom>
          <a:solidFill>
            <a:srgbClr val="E457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005CF5-8469-AC1F-CACE-D822382FF821}"/>
              </a:ext>
            </a:extLst>
          </p:cNvPr>
          <p:cNvSpPr txBox="1"/>
          <p:nvPr/>
        </p:nvSpPr>
        <p:spPr>
          <a:xfrm>
            <a:off x="762000" y="14986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 b="1" spc="150">
                <a:solidFill>
                  <a:srgbClr val="9FB3D1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1200" b="1" spc="150">
              <a:solidFill>
                <a:srgbClr val="9FB3D1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66ED1D5-9BE9-3580-1BB5-2B16349BB704}"/>
              </a:ext>
            </a:extLst>
          </p:cNvPr>
          <p:cNvSpPr txBox="1"/>
          <p:nvPr/>
        </p:nvSpPr>
        <p:spPr>
          <a:xfrm>
            <a:off x="762000" y="18542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4000" b="1">
                <a:solidFill>
                  <a:srgbClr val="FFFFFF"/>
                </a:solidFill>
                <a:latin typeface="Calibri" panose="020F0502020204030204" pitchFamily="34" charset="0"/>
              </a:rPr>
              <a:t>Optimización de planes preventivos basada en delays</a:t>
            </a:r>
            <a:endParaRPr lang="es-PE" sz="40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9AA3C8-4A9F-B563-5B07-E9D5B82AE127}"/>
              </a:ext>
            </a:extLst>
          </p:cNvPr>
          <p:cNvSpPr txBox="1"/>
          <p:nvPr/>
        </p:nvSpPr>
        <p:spPr>
          <a:xfrm>
            <a:off x="762000" y="34290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>
                <a:solidFill>
                  <a:srgbClr val="D0DAEA"/>
                </a:solidFill>
                <a:latin typeface="Calibri" panose="020F0502020204030204" pitchFamily="34" charset="0"/>
              </a:rPr>
              <a:t>Evaluación de planes por especialidad y propuesta de mejora</a:t>
            </a:r>
            <a:endParaRPr lang="es-PE">
              <a:solidFill>
                <a:srgbClr val="D0DAEA"/>
              </a:solidFill>
              <a:latin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D7BCB1D-D80B-0184-916F-9882ABAD1455}"/>
              </a:ext>
            </a:extLst>
          </p:cNvPr>
          <p:cNvSpPr txBox="1"/>
          <p:nvPr/>
        </p:nvSpPr>
        <p:spPr>
          <a:xfrm>
            <a:off x="762000" y="47244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3000" b="1">
                <a:solidFill>
                  <a:srgbClr val="FFFFFF"/>
                </a:solidFill>
                <a:latin typeface="Calibri" panose="020F0502020204030204" pitchFamily="34" charset="0"/>
              </a:rPr>
              <a:t>3,261 h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FD0F7A6-D493-497C-8769-7EA5BA9CF970}"/>
              </a:ext>
            </a:extLst>
          </p:cNvPr>
          <p:cNvSpPr txBox="1"/>
          <p:nvPr/>
        </p:nvSpPr>
        <p:spPr>
          <a:xfrm>
            <a:off x="762000" y="52324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>
                <a:solidFill>
                  <a:srgbClr val="B8C5DB"/>
                </a:solidFill>
                <a:latin typeface="Calibri" panose="020F0502020204030204" pitchFamily="34" charset="0"/>
              </a:rPr>
              <a:t>de delay analizadas</a:t>
            </a:r>
          </a:p>
          <a:p>
            <a:r>
              <a:rPr lang="es-PE" sz="1100">
                <a:solidFill>
                  <a:srgbClr val="B8C5DB"/>
                </a:solidFill>
                <a:latin typeface="Calibri" panose="020F0502020204030204" pitchFamily="34" charset="0"/>
              </a:rPr>
              <a:t>(ene – set 2026)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4B985DE-4B7D-8F04-9CED-FA141A920CD2}"/>
              </a:ext>
            </a:extLst>
          </p:cNvPr>
          <p:cNvSpPr txBox="1"/>
          <p:nvPr/>
        </p:nvSpPr>
        <p:spPr>
          <a:xfrm>
            <a:off x="3111500" y="47244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3000" b="1">
                <a:solidFill>
                  <a:srgbClr val="FFFFFF"/>
                </a:solidFill>
                <a:latin typeface="Calibri" panose="020F0502020204030204" pitchFamily="34" charset="0"/>
              </a:rPr>
              <a:t>2,093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F3D3807-33D0-A2D2-B540-426736771849}"/>
              </a:ext>
            </a:extLst>
          </p:cNvPr>
          <p:cNvSpPr txBox="1"/>
          <p:nvPr/>
        </p:nvSpPr>
        <p:spPr>
          <a:xfrm>
            <a:off x="3111500" y="52324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>
                <a:solidFill>
                  <a:srgbClr val="B8C5DB"/>
                </a:solidFill>
                <a:latin typeface="Calibri" panose="020F0502020204030204" pitchFamily="34" charset="0"/>
              </a:rPr>
              <a:t>planes preventivos</a:t>
            </a:r>
          </a:p>
          <a:p>
            <a:r>
              <a:rPr lang="es-PE" sz="1100">
                <a:solidFill>
                  <a:srgbClr val="B8C5DB"/>
                </a:solidFill>
                <a:latin typeface="Calibri" panose="020F0502020204030204" pitchFamily="34" charset="0"/>
              </a:rPr>
              <a:t>evaluados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2BFA511-A101-2367-37CF-140BC5B2153B}"/>
              </a:ext>
            </a:extLst>
          </p:cNvPr>
          <p:cNvSpPr txBox="1"/>
          <p:nvPr/>
        </p:nvSpPr>
        <p:spPr>
          <a:xfrm>
            <a:off x="5461000" y="47244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PE" sz="30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03EC869-E9AA-7AEA-A982-3772AAF152AB}"/>
              </a:ext>
            </a:extLst>
          </p:cNvPr>
          <p:cNvSpPr txBox="1"/>
          <p:nvPr/>
        </p:nvSpPr>
        <p:spPr>
          <a:xfrm>
            <a:off x="762000" y="61976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>
                <a:solidFill>
                  <a:srgbClr val="9FB3D1"/>
                </a:solidFill>
                <a:latin typeface="Calibri" panose="020F0502020204030204" pitchFamily="34" charset="0"/>
              </a:rPr>
              <a:t>Setiembre 2026</a:t>
            </a:r>
          </a:p>
        </p:txBody>
      </p:sp>
    </p:spTree>
    <p:extLst>
      <p:ext uri="{BB962C8B-B14F-4D97-AF65-F5344CB8AC3E}">
        <p14:creationId xmlns:p14="http://schemas.microsoft.com/office/powerpoint/2010/main" val="304428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C44E9ED-6ACC-BE78-FAE2-53F470894AB5}"/>
              </a:ext>
            </a:extLst>
          </p:cNvPr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0C3095-BFA1-79F5-6BAC-46D64621C796}"/>
              </a:ext>
            </a:extLst>
          </p:cNvPr>
          <p:cNvSpPr txBox="1"/>
          <p:nvPr/>
        </p:nvSpPr>
        <p:spPr>
          <a:xfrm>
            <a:off x="609600" y="25400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4000" b="1">
                <a:solidFill>
                  <a:srgbClr val="FFFFFF"/>
                </a:solidFill>
                <a:latin typeface="Calibri" panose="020F0502020204030204" pitchFamily="34" charset="0"/>
              </a:rPr>
              <a:t>Agenda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44C3D8F-300C-DAE2-2BAC-7EDF91EFDA61}"/>
              </a:ext>
            </a:extLst>
          </p:cNvPr>
          <p:cNvSpPr txBox="1"/>
          <p:nvPr/>
        </p:nvSpPr>
        <p:spPr>
          <a:xfrm>
            <a:off x="609600" y="32512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300">
                <a:solidFill>
                  <a:srgbClr val="C8D3E6"/>
                </a:solidFill>
                <a:latin typeface="Calibri" panose="020F0502020204030204" pitchFamily="34" charset="0"/>
              </a:rPr>
              <a:t>Del análisis de delays a una base de planes preventivos enfocada en los módulos críticos.</a:t>
            </a:r>
            <a:endParaRPr lang="es-PE" sz="1300">
              <a:solidFill>
                <a:srgbClr val="C8D3E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8517B59-1992-97DF-FDDC-A6D5A6969E41}"/>
              </a:ext>
            </a:extLst>
          </p:cNvPr>
          <p:cNvSpPr/>
          <p:nvPr/>
        </p:nvSpPr>
        <p:spPr>
          <a:xfrm>
            <a:off x="4826000" y="635000"/>
            <a:ext cx="431800" cy="431800"/>
          </a:xfrm>
          <a:prstGeom prst="ellipse">
            <a:avLst/>
          </a:prstGeom>
          <a:solidFill>
            <a:srgbClr val="E457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sz="1200" b="1">
                <a:solidFill>
                  <a:srgbClr val="FFFFFF"/>
                </a:solidFill>
                <a:latin typeface="Calibri" panose="020F0502020204030204" pitchFamily="34" charset="0"/>
              </a:rPr>
              <a:t>01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E3C22BC-7783-C911-C3A1-2D04C66D101D}"/>
              </a:ext>
            </a:extLst>
          </p:cNvPr>
          <p:cNvSpPr txBox="1"/>
          <p:nvPr/>
        </p:nvSpPr>
        <p:spPr>
          <a:xfrm>
            <a:off x="5461000" y="6477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600" b="1">
                <a:solidFill>
                  <a:srgbClr val="1F2E4D"/>
                </a:solidFill>
                <a:latin typeface="Calibri" panose="020F0502020204030204" pitchFamily="34" charset="0"/>
              </a:rPr>
              <a:t>Contexto y alcance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21F1343-AA46-755F-893E-5FCA6CD6454D}"/>
              </a:ext>
            </a:extLst>
          </p:cNvPr>
          <p:cNvSpPr txBox="1"/>
          <p:nvPr/>
        </p:nvSpPr>
        <p:spPr>
          <a:xfrm>
            <a:off x="5461000" y="9017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>
                <a:solidFill>
                  <a:srgbClr val="6B7280"/>
                </a:solidFill>
                <a:latin typeface="Calibri" panose="020F0502020204030204" pitchFamily="34" charset="0"/>
              </a:rPr>
              <a:t>Por qué revisar los planes y qué se analizó</a:t>
            </a:r>
            <a:endParaRPr lang="es-PE" sz="12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11A3E504-CB9E-0D07-2475-A3717D03A567}"/>
              </a:ext>
            </a:extLst>
          </p:cNvPr>
          <p:cNvSpPr/>
          <p:nvPr/>
        </p:nvSpPr>
        <p:spPr>
          <a:xfrm>
            <a:off x="4826000" y="1346200"/>
            <a:ext cx="431800" cy="431800"/>
          </a:xfrm>
          <a:prstGeom prst="ellipse">
            <a:avLst/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sz="1200" b="1">
                <a:solidFill>
                  <a:srgbClr val="FFFFFF"/>
                </a:solidFill>
                <a:latin typeface="Calibri" panose="020F0502020204030204" pitchFamily="34" charset="0"/>
              </a:rPr>
              <a:t>02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EC0B960-6050-34F6-BA00-3DA621D34863}"/>
              </a:ext>
            </a:extLst>
          </p:cNvPr>
          <p:cNvSpPr txBox="1"/>
          <p:nvPr/>
        </p:nvSpPr>
        <p:spPr>
          <a:xfrm>
            <a:off x="5461000" y="13589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600" b="1">
                <a:solidFill>
                  <a:srgbClr val="1F2E4D"/>
                </a:solidFill>
                <a:latin typeface="Calibri" panose="020F0502020204030204" pitchFamily="34" charset="0"/>
              </a:rPr>
              <a:t>Situación actual de delays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9BB30FE-3EE0-4415-A728-732E6DA0540C}"/>
              </a:ext>
            </a:extLst>
          </p:cNvPr>
          <p:cNvSpPr txBox="1"/>
          <p:nvPr/>
        </p:nvSpPr>
        <p:spPr>
          <a:xfrm>
            <a:off x="5461000" y="16129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>
                <a:solidFill>
                  <a:srgbClr val="6B7280"/>
                </a:solidFill>
                <a:latin typeface="Calibri" panose="020F0502020204030204" pitchFamily="34" charset="0"/>
              </a:rPr>
              <a:t>Horas por grupo, especialidad, mes y área</a:t>
            </a:r>
            <a:endParaRPr lang="es-PE" sz="12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7A215208-25BD-027C-540C-61F5D1C75645}"/>
              </a:ext>
            </a:extLst>
          </p:cNvPr>
          <p:cNvSpPr/>
          <p:nvPr/>
        </p:nvSpPr>
        <p:spPr>
          <a:xfrm>
            <a:off x="4826000" y="2057400"/>
            <a:ext cx="431800" cy="431800"/>
          </a:xfrm>
          <a:prstGeom prst="ellipse">
            <a:avLst/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sz="1200" b="1">
                <a:solidFill>
                  <a:srgbClr val="FFFFFF"/>
                </a:solidFill>
                <a:latin typeface="Calibri" panose="020F0502020204030204" pitchFamily="34" charset="0"/>
              </a:rPr>
              <a:t>03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596EC2F-A419-C5C0-7A20-365FA74FBC35}"/>
              </a:ext>
            </a:extLst>
          </p:cNvPr>
          <p:cNvSpPr txBox="1"/>
          <p:nvPr/>
        </p:nvSpPr>
        <p:spPr>
          <a:xfrm>
            <a:off x="5461000" y="20701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600" b="1">
                <a:solidFill>
                  <a:srgbClr val="1F2E4D"/>
                </a:solidFill>
                <a:latin typeface="Calibri" panose="020F0502020204030204" pitchFamily="34" charset="0"/>
              </a:rPr>
              <a:t>Metodología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B559DAE-6B54-6F59-EEB4-E375E08EF2C3}"/>
              </a:ext>
            </a:extLst>
          </p:cNvPr>
          <p:cNvSpPr txBox="1"/>
          <p:nvPr/>
        </p:nvSpPr>
        <p:spPr>
          <a:xfrm>
            <a:off x="5461000" y="23241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>
                <a:solidFill>
                  <a:srgbClr val="6B7280"/>
                </a:solidFill>
                <a:latin typeface="Calibri" panose="020F0502020204030204" pitchFamily="34" charset="0"/>
              </a:rPr>
              <a:t>Cómo se construyó la propuesta</a:t>
            </a:r>
            <a:endParaRPr lang="es-PE" sz="12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A968AE5-E487-70B8-48C1-8160EEE6808F}"/>
              </a:ext>
            </a:extLst>
          </p:cNvPr>
          <p:cNvSpPr/>
          <p:nvPr/>
        </p:nvSpPr>
        <p:spPr>
          <a:xfrm>
            <a:off x="4826000" y="2768600"/>
            <a:ext cx="431800" cy="431800"/>
          </a:xfrm>
          <a:prstGeom prst="ellipse">
            <a:avLst/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sz="1200" b="1">
                <a:solidFill>
                  <a:srgbClr val="FFFFFF"/>
                </a:solidFill>
                <a:latin typeface="Calibri" panose="020F0502020204030204" pitchFamily="34" charset="0"/>
              </a:rPr>
              <a:t>04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3A48E22-C4FB-1654-3C68-805714EC6FF3}"/>
              </a:ext>
            </a:extLst>
          </p:cNvPr>
          <p:cNvSpPr txBox="1"/>
          <p:nvPr/>
        </p:nvSpPr>
        <p:spPr>
          <a:xfrm>
            <a:off x="5461000" y="27813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600" b="1">
                <a:solidFill>
                  <a:srgbClr val="1F2E4D"/>
                </a:solidFill>
                <a:latin typeface="Calibri" panose="020F0502020204030204" pitchFamily="34" charset="0"/>
              </a:rPr>
              <a:t>Módulos críticos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587D85B-CF3F-82E2-351C-31B6464595E3}"/>
              </a:ext>
            </a:extLst>
          </p:cNvPr>
          <p:cNvSpPr txBox="1"/>
          <p:nvPr/>
        </p:nvSpPr>
        <p:spPr>
          <a:xfrm>
            <a:off x="5461000" y="30353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>
                <a:solidFill>
                  <a:srgbClr val="6B7280"/>
                </a:solidFill>
                <a:latin typeface="Calibri" panose="020F0502020204030204" pitchFamily="34" charset="0"/>
              </a:rPr>
              <a:t>Pareto por grupo y especialidad</a:t>
            </a:r>
            <a:endParaRPr lang="es-PE" sz="12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20CF199-EACD-C240-FB39-196070B56E08}"/>
              </a:ext>
            </a:extLst>
          </p:cNvPr>
          <p:cNvSpPr/>
          <p:nvPr/>
        </p:nvSpPr>
        <p:spPr>
          <a:xfrm>
            <a:off x="4826000" y="3479800"/>
            <a:ext cx="431800" cy="431800"/>
          </a:xfrm>
          <a:prstGeom prst="ellipse">
            <a:avLst/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sz="1200" b="1">
                <a:solidFill>
                  <a:srgbClr val="FFFFFF"/>
                </a:solidFill>
                <a:latin typeface="Calibri" panose="020F0502020204030204" pitchFamily="34" charset="0"/>
              </a:rPr>
              <a:t>05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B23FBEA-7663-8E83-FCFE-A58CA4BAF015}"/>
              </a:ext>
            </a:extLst>
          </p:cNvPr>
          <p:cNvSpPr txBox="1"/>
          <p:nvPr/>
        </p:nvSpPr>
        <p:spPr>
          <a:xfrm>
            <a:off x="5461000" y="34925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600" b="1">
                <a:solidFill>
                  <a:srgbClr val="1F2E4D"/>
                </a:solidFill>
                <a:latin typeface="Calibri" panose="020F0502020204030204" pitchFamily="34" charset="0"/>
              </a:rPr>
              <a:t>Fallas más comunes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88368AC-09F1-B90F-BCAC-43F0CC6B882C}"/>
              </a:ext>
            </a:extLst>
          </p:cNvPr>
          <p:cNvSpPr txBox="1"/>
          <p:nvPr/>
        </p:nvSpPr>
        <p:spPr>
          <a:xfrm>
            <a:off x="5461000" y="37465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>
                <a:solidFill>
                  <a:srgbClr val="6B7280"/>
                </a:solidFill>
                <a:latin typeface="Calibri" panose="020F0502020204030204" pitchFamily="34" charset="0"/>
              </a:rPr>
              <a:t>Tipos de falla, módulos y top 5 por grupo</a:t>
            </a:r>
            <a:endParaRPr lang="es-PE" sz="12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8B31A222-E06A-09CE-414B-50C332D0B455}"/>
              </a:ext>
            </a:extLst>
          </p:cNvPr>
          <p:cNvSpPr/>
          <p:nvPr/>
        </p:nvSpPr>
        <p:spPr>
          <a:xfrm>
            <a:off x="4826000" y="4191000"/>
            <a:ext cx="431800" cy="431800"/>
          </a:xfrm>
          <a:prstGeom prst="ellipse">
            <a:avLst/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sz="1200" b="1">
                <a:solidFill>
                  <a:srgbClr val="FFFFFF"/>
                </a:solidFill>
                <a:latin typeface="Calibri" panose="020F0502020204030204" pitchFamily="34" charset="0"/>
              </a:rPr>
              <a:t>06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CF4C585-4591-241D-0C37-D7F88B17A6C9}"/>
              </a:ext>
            </a:extLst>
          </p:cNvPr>
          <p:cNvSpPr txBox="1"/>
          <p:nvPr/>
        </p:nvSpPr>
        <p:spPr>
          <a:xfrm>
            <a:off x="5461000" y="42037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600" b="1">
                <a:solidFill>
                  <a:srgbClr val="1F2E4D"/>
                </a:solidFill>
                <a:latin typeface="Calibri" panose="020F0502020204030204" pitchFamily="34" charset="0"/>
              </a:rPr>
              <a:t>Evaluación de planes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C0AD9C2-22D6-BC4A-4FE4-C4567E6272E2}"/>
              </a:ext>
            </a:extLst>
          </p:cNvPr>
          <p:cNvSpPr txBox="1"/>
          <p:nvPr/>
        </p:nvSpPr>
        <p:spPr>
          <a:xfrm>
            <a:off x="5461000" y="44577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>
                <a:solidFill>
                  <a:srgbClr val="6B7280"/>
                </a:solidFill>
                <a:latin typeface="Calibri" panose="020F0502020204030204" pitchFamily="34" charset="0"/>
              </a:rPr>
              <a:t>Decisiones, frecuencias y puestos de trabajo</a:t>
            </a:r>
            <a:endParaRPr lang="es-PE" sz="12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9197E8A2-BD6E-E78D-066E-54864D2E08B4}"/>
              </a:ext>
            </a:extLst>
          </p:cNvPr>
          <p:cNvSpPr/>
          <p:nvPr/>
        </p:nvSpPr>
        <p:spPr>
          <a:xfrm>
            <a:off x="4826000" y="4902200"/>
            <a:ext cx="431800" cy="431800"/>
          </a:xfrm>
          <a:prstGeom prst="ellipse">
            <a:avLst/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sz="1200" b="1">
                <a:solidFill>
                  <a:srgbClr val="FFFFFF"/>
                </a:solidFill>
                <a:latin typeface="Calibri" panose="020F0502020204030204" pitchFamily="34" charset="0"/>
              </a:rPr>
              <a:t>07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C6EE5F4-3321-B464-CEC8-61A535FD23DF}"/>
              </a:ext>
            </a:extLst>
          </p:cNvPr>
          <p:cNvSpPr txBox="1"/>
          <p:nvPr/>
        </p:nvSpPr>
        <p:spPr>
          <a:xfrm>
            <a:off x="5461000" y="49149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600" b="1">
                <a:solidFill>
                  <a:srgbClr val="1F2E4D"/>
                </a:solidFill>
                <a:latin typeface="Calibri" panose="020F0502020204030204" pitchFamily="34" charset="0"/>
              </a:rPr>
              <a:t>Propuestas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FDB40A0-5500-44E9-FD27-0DDC81DC2BF8}"/>
              </a:ext>
            </a:extLst>
          </p:cNvPr>
          <p:cNvSpPr txBox="1"/>
          <p:nvPr/>
        </p:nvSpPr>
        <p:spPr>
          <a:xfrm>
            <a:off x="5461000" y="51689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>
                <a:solidFill>
                  <a:srgbClr val="6B7280"/>
                </a:solidFill>
                <a:latin typeface="Calibri" panose="020F0502020204030204" pitchFamily="34" charset="0"/>
              </a:rPr>
              <a:t>Acciones por especialidad e impacto en SAP</a:t>
            </a:r>
            <a:endParaRPr lang="es-PE" sz="12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D55BFD97-F051-8FCB-EF6D-7A87668DC7B2}"/>
              </a:ext>
            </a:extLst>
          </p:cNvPr>
          <p:cNvSpPr/>
          <p:nvPr/>
        </p:nvSpPr>
        <p:spPr>
          <a:xfrm>
            <a:off x="4826000" y="5613400"/>
            <a:ext cx="431800" cy="431800"/>
          </a:xfrm>
          <a:prstGeom prst="ellipse">
            <a:avLst/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sz="1200" b="1">
                <a:solidFill>
                  <a:srgbClr val="FFFFFF"/>
                </a:solidFill>
                <a:latin typeface="Calibri" panose="020F0502020204030204" pitchFamily="34" charset="0"/>
              </a:rPr>
              <a:t>08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113AA40-3360-3FEC-26EA-EE78E94BE342}"/>
              </a:ext>
            </a:extLst>
          </p:cNvPr>
          <p:cNvSpPr txBox="1"/>
          <p:nvPr/>
        </p:nvSpPr>
        <p:spPr>
          <a:xfrm>
            <a:off x="5461000" y="56261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600" b="1">
                <a:solidFill>
                  <a:srgbClr val="1F2E4D"/>
                </a:solidFill>
                <a:latin typeface="Calibri" panose="020F0502020204030204" pitchFamily="34" charset="0"/>
              </a:rPr>
              <a:t>Próximos pasos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2572260-F95E-B395-6D29-3EFC56C07A77}"/>
              </a:ext>
            </a:extLst>
          </p:cNvPr>
          <p:cNvSpPr txBox="1"/>
          <p:nvPr/>
        </p:nvSpPr>
        <p:spPr>
          <a:xfrm>
            <a:off x="5461000" y="58801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>
                <a:solidFill>
                  <a:srgbClr val="6B7280"/>
                </a:solidFill>
                <a:latin typeface="Calibri" panose="020F0502020204030204" pitchFamily="34" charset="0"/>
              </a:rPr>
              <a:t>Hoja de ruta de implementación</a:t>
            </a:r>
            <a:endParaRPr lang="es-PE" sz="12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AF84E4B-3189-7BD4-4672-95D6FBAD2746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159C2F5-7464-05A6-D9B8-E964A293D80B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94117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A28B941-7D63-67D6-E432-DCFAB851968B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CONTEXTO Y ALCANCE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DC6AFD3-0A7E-D2AC-7C7B-F0E07EFA9982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600" b="1">
                <a:solidFill>
                  <a:srgbClr val="1F2E4D"/>
                </a:solidFill>
                <a:latin typeface="Calibri" panose="020F0502020204030204" pitchFamily="34" charset="0"/>
              </a:rPr>
              <a:t>¿Por qué revisar los planes preventivos?</a:t>
            </a:r>
            <a:endParaRPr lang="es-PE" sz="26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2108540-CB33-4FF7-5CDB-7E35CDF24EC8}"/>
              </a:ext>
            </a:extLst>
          </p:cNvPr>
          <p:cNvSpPr/>
          <p:nvPr/>
        </p:nvSpPr>
        <p:spPr>
          <a:xfrm>
            <a:off x="508000" y="1498600"/>
            <a:ext cx="558800" cy="558800"/>
          </a:xfrm>
          <a:prstGeom prst="ellipse">
            <a:avLst/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B88364D-5926-F206-0845-9823286D578A}"/>
              </a:ext>
            </a:extLst>
          </p:cNvPr>
          <p:cNvSpPr txBox="1"/>
          <p:nvPr/>
        </p:nvSpPr>
        <p:spPr>
          <a:xfrm>
            <a:off x="1295400" y="15240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700" b="1">
                <a:solidFill>
                  <a:srgbClr val="1F2E4D"/>
                </a:solidFill>
                <a:latin typeface="Calibri" panose="020F0502020204030204" pitchFamily="34" charset="0"/>
              </a:rPr>
              <a:t>El delay se concentra en pocos módulos</a:t>
            </a:r>
            <a:endParaRPr lang="es-PE" sz="17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5E4F476-50C6-4F05-C6C7-BDDDC01B9C44}"/>
              </a:ext>
            </a:extLst>
          </p:cNvPr>
          <p:cNvSpPr txBox="1"/>
          <p:nvPr/>
        </p:nvSpPr>
        <p:spPr>
          <a:xfrm>
            <a:off x="1295400" y="18542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300">
                <a:solidFill>
                  <a:srgbClr val="374151"/>
                </a:solidFill>
                <a:latin typeface="Calibri" panose="020F0502020204030204" pitchFamily="34" charset="0"/>
              </a:rPr>
              <a:t>Un grupo reducido de módulos por máquina explica una parte importante de las horas de parada.</a:t>
            </a:r>
            <a:endParaRPr lang="es-PE" sz="13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6E83AB0-86F8-336F-A5FE-42882B4D3EC6}"/>
              </a:ext>
            </a:extLst>
          </p:cNvPr>
          <p:cNvSpPr/>
          <p:nvPr/>
        </p:nvSpPr>
        <p:spPr>
          <a:xfrm>
            <a:off x="508000" y="2997200"/>
            <a:ext cx="558800" cy="558800"/>
          </a:xfrm>
          <a:prstGeom prst="ellipse">
            <a:avLst/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459D908-FC68-DA92-EC5E-884ABFB6A5AF}"/>
              </a:ext>
            </a:extLst>
          </p:cNvPr>
          <p:cNvSpPr txBox="1"/>
          <p:nvPr/>
        </p:nvSpPr>
        <p:spPr>
          <a:xfrm>
            <a:off x="1295400" y="30226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700" b="1">
                <a:solidFill>
                  <a:srgbClr val="1F2E4D"/>
                </a:solidFill>
                <a:latin typeface="Calibri" panose="020F0502020204030204" pitchFamily="34" charset="0"/>
              </a:rPr>
              <a:t>Planes no siempre alineados a la falla real</a:t>
            </a:r>
            <a:endParaRPr lang="es-PE" sz="17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E3FE905-0FE4-CABB-CF4F-8822E950F893}"/>
              </a:ext>
            </a:extLst>
          </p:cNvPr>
          <p:cNvSpPr txBox="1"/>
          <p:nvPr/>
        </p:nvSpPr>
        <p:spPr>
          <a:xfrm>
            <a:off x="1295400" y="33528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300">
                <a:solidFill>
                  <a:srgbClr val="374151"/>
                </a:solidFill>
                <a:latin typeface="Calibri" panose="020F0502020204030204" pitchFamily="34" charset="0"/>
              </a:rPr>
              <a:t>Existen planes duplicados, fuera de alcance o con frecuencias que no responden al modo de falla.</a:t>
            </a:r>
            <a:endParaRPr lang="es-PE" sz="13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50130A6-270E-DFAC-7CFB-B8B4AEFD7D10}"/>
              </a:ext>
            </a:extLst>
          </p:cNvPr>
          <p:cNvSpPr/>
          <p:nvPr/>
        </p:nvSpPr>
        <p:spPr>
          <a:xfrm>
            <a:off x="7112000" y="1422400"/>
            <a:ext cx="4572000" cy="46736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9B0895E-08F9-A82B-D0CF-85EFC44D0164}"/>
              </a:ext>
            </a:extLst>
          </p:cNvPr>
          <p:cNvSpPr txBox="1"/>
          <p:nvPr/>
        </p:nvSpPr>
        <p:spPr>
          <a:xfrm>
            <a:off x="7467600" y="1701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600" b="1">
                <a:solidFill>
                  <a:srgbClr val="1F2E4D"/>
                </a:solidFill>
                <a:latin typeface="Calibri" panose="020F0502020204030204" pitchFamily="34" charset="0"/>
              </a:rPr>
              <a:t>Alcance del análisis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8699A8F-8207-4314-EB08-A82F10ED03D6}"/>
              </a:ext>
            </a:extLst>
          </p:cNvPr>
          <p:cNvSpPr txBox="1"/>
          <p:nvPr/>
        </p:nvSpPr>
        <p:spPr>
          <a:xfrm>
            <a:off x="7467600" y="2133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00" b="1">
                <a:solidFill>
                  <a:srgbClr val="E4572E"/>
                </a:solidFill>
                <a:latin typeface="Calibri" panose="020F0502020204030204" pitchFamily="34" charset="0"/>
              </a:rPr>
              <a:t>PERIODO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FE5FB8B-ABA5-E06D-48CD-139B67AE1AD7}"/>
              </a:ext>
            </a:extLst>
          </p:cNvPr>
          <p:cNvSpPr txBox="1"/>
          <p:nvPr/>
        </p:nvSpPr>
        <p:spPr>
          <a:xfrm>
            <a:off x="7467600" y="23368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a-DK" sz="1250">
                <a:solidFill>
                  <a:srgbClr val="1F2E4D"/>
                </a:solidFill>
                <a:latin typeface="Calibri" panose="020F0502020204030204" pitchFamily="34" charset="0"/>
              </a:rPr>
              <a:t>02 ene – 03 set 2026  ·  12,872 eventos de delay</a:t>
            </a:r>
            <a:endParaRPr lang="es-PE" sz="1250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687B640-87D1-BDD4-7B35-1B52CB13CF64}"/>
              </a:ext>
            </a:extLst>
          </p:cNvPr>
          <p:cNvSpPr txBox="1"/>
          <p:nvPr/>
        </p:nvSpPr>
        <p:spPr>
          <a:xfrm>
            <a:off x="7467600" y="2921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00" b="1">
                <a:solidFill>
                  <a:srgbClr val="E4572E"/>
                </a:solidFill>
                <a:latin typeface="Calibri" panose="020F0502020204030204" pitchFamily="34" charset="0"/>
              </a:rPr>
              <a:t>GRUPOS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639DAFE-BEA7-98D3-EB36-4458C234FB23}"/>
              </a:ext>
            </a:extLst>
          </p:cNvPr>
          <p:cNvSpPr txBox="1"/>
          <p:nvPr/>
        </p:nvSpPr>
        <p:spPr>
          <a:xfrm>
            <a:off x="7467600" y="31242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250">
                <a:solidFill>
                  <a:srgbClr val="1F2E4D"/>
                </a:solidFill>
                <a:latin typeface="Calibri" panose="020F0502020204030204" pitchFamily="34" charset="0"/>
              </a:rPr>
              <a:t>BCM (PI7, PI8, PI9, PI11)  ·  PADS (PF3, PF4)  ·  PF5  ·  PA1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6F53013-894D-F577-D09C-889A6C17C20A}"/>
              </a:ext>
            </a:extLst>
          </p:cNvPr>
          <p:cNvSpPr txBox="1"/>
          <p:nvPr/>
        </p:nvSpPr>
        <p:spPr>
          <a:xfrm>
            <a:off x="7467600" y="3708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00" b="1">
                <a:solidFill>
                  <a:srgbClr val="E4572E"/>
                </a:solidFill>
                <a:latin typeface="Calibri" panose="020F0502020204030204" pitchFamily="34" charset="0"/>
              </a:rPr>
              <a:t>ESPECIALIDADES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C15A12E-A468-C755-7E5D-CE0D94F7FA52}"/>
              </a:ext>
            </a:extLst>
          </p:cNvPr>
          <p:cNvSpPr txBox="1"/>
          <p:nvPr/>
        </p:nvSpPr>
        <p:spPr>
          <a:xfrm>
            <a:off x="7467600" y="39116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50">
                <a:solidFill>
                  <a:srgbClr val="1F2E4D"/>
                </a:solidFill>
                <a:latin typeface="Calibri" panose="020F0502020204030204" pitchFamily="34" charset="0"/>
              </a:rPr>
              <a:t>Mecánica, electrónica (incluye instrumentación), eléctrica y adhesivos</a:t>
            </a:r>
            <a:endParaRPr lang="es-PE" sz="1250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6364D6D-8C51-9ED9-DEE0-E83449DC8191}"/>
              </a:ext>
            </a:extLst>
          </p:cNvPr>
          <p:cNvSpPr txBox="1"/>
          <p:nvPr/>
        </p:nvSpPr>
        <p:spPr>
          <a:xfrm>
            <a:off x="7467600" y="4495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00" b="1">
                <a:solidFill>
                  <a:srgbClr val="E4572E"/>
                </a:solidFill>
                <a:latin typeface="Calibri" panose="020F0502020204030204" pitchFamily="34" charset="0"/>
              </a:rPr>
              <a:t>PLANES EVALUADOS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BE8784F-ED4E-1D28-FA07-DA73425D237A}"/>
              </a:ext>
            </a:extLst>
          </p:cNvPr>
          <p:cNvSpPr txBox="1"/>
          <p:nvPr/>
        </p:nvSpPr>
        <p:spPr>
          <a:xfrm>
            <a:off x="7467600" y="46990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250">
                <a:solidFill>
                  <a:srgbClr val="1F2E4D"/>
                </a:solidFill>
                <a:latin typeface="Calibri" panose="020F0502020204030204" pitchFamily="34" charset="0"/>
              </a:rPr>
              <a:t>2,093 planes preventivos de SAP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E812B19-090D-00CE-08F4-1FEFB368D910}"/>
              </a:ext>
            </a:extLst>
          </p:cNvPr>
          <p:cNvSpPr txBox="1"/>
          <p:nvPr/>
        </p:nvSpPr>
        <p:spPr>
          <a:xfrm>
            <a:off x="7467600" y="54864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es-PE" sz="1250" dirty="0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2E20D6A-A154-12C0-5970-5A82EC75C3EC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7B03EF0-5B19-33E7-2C57-D4DAE474B805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42481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D0D6AFF-3456-4E5C-863C-49DD52A627FA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SITUACIÓN ACTUAL  ·  DELAYS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C6F23E8-299B-FCF0-149C-BDD5CCEDC917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600" b="1">
                <a:solidFill>
                  <a:srgbClr val="1F2E4D"/>
                </a:solidFill>
                <a:latin typeface="Calibri" panose="020F0502020204030204" pitchFamily="34" charset="0"/>
              </a:rPr>
              <a:t>BCM concentra el 56% de las horas de delay del periodo</a:t>
            </a:r>
            <a:endParaRPr lang="es-PE" sz="26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2E7460C-6817-C62A-67B7-BBA0EB5DFC5C}"/>
              </a:ext>
            </a:extLst>
          </p:cNvPr>
          <p:cNvSpPr/>
          <p:nvPr/>
        </p:nvSpPr>
        <p:spPr>
          <a:xfrm>
            <a:off x="508000" y="1422400"/>
            <a:ext cx="3175000" cy="1397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F0C41EA-270C-333F-BDEB-485BEC32464D}"/>
              </a:ext>
            </a:extLst>
          </p:cNvPr>
          <p:cNvSpPr txBox="1"/>
          <p:nvPr/>
        </p:nvSpPr>
        <p:spPr>
          <a:xfrm>
            <a:off x="787400" y="16256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3200" b="1">
                <a:solidFill>
                  <a:srgbClr val="E4572E"/>
                </a:solidFill>
                <a:latin typeface="Calibri" panose="020F0502020204030204" pitchFamily="34" charset="0"/>
              </a:rPr>
              <a:t>3,261 h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B0BF4B-9ACF-7A44-80D2-88A1A1C655BF}"/>
              </a:ext>
            </a:extLst>
          </p:cNvPr>
          <p:cNvSpPr txBox="1"/>
          <p:nvPr/>
        </p:nvSpPr>
        <p:spPr>
          <a:xfrm>
            <a:off x="787400" y="2184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50">
                <a:solidFill>
                  <a:srgbClr val="374151"/>
                </a:solidFill>
                <a:latin typeface="Calibri" panose="020F0502020204030204" pitchFamily="34" charset="0"/>
              </a:rPr>
              <a:t>de delay registradas en 12,872 eventos</a:t>
            </a:r>
            <a:endParaRPr lang="es-PE" sz="125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3A1C93C-B333-D436-51B2-96AB01954FE0}"/>
              </a:ext>
            </a:extLst>
          </p:cNvPr>
          <p:cNvSpPr/>
          <p:nvPr/>
        </p:nvSpPr>
        <p:spPr>
          <a:xfrm>
            <a:off x="508000" y="2997200"/>
            <a:ext cx="3175000" cy="1397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0218FD0-C44E-B4DA-90D4-EE7D61AE216C}"/>
              </a:ext>
            </a:extLst>
          </p:cNvPr>
          <p:cNvSpPr txBox="1"/>
          <p:nvPr/>
        </p:nvSpPr>
        <p:spPr>
          <a:xfrm>
            <a:off x="787400" y="3200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3200" b="1">
                <a:solidFill>
                  <a:srgbClr val="1F2E4D"/>
                </a:solidFill>
                <a:latin typeface="Calibri" panose="020F0502020204030204" pitchFamily="34" charset="0"/>
              </a:rPr>
              <a:t>71%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79ED614-D856-DD64-5127-FE7182F72901}"/>
              </a:ext>
            </a:extLst>
          </p:cNvPr>
          <p:cNvSpPr txBox="1"/>
          <p:nvPr/>
        </p:nvSpPr>
        <p:spPr>
          <a:xfrm>
            <a:off x="787400" y="37592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50">
                <a:solidFill>
                  <a:srgbClr val="374151"/>
                </a:solidFill>
                <a:latin typeface="Calibri" panose="020F0502020204030204" pitchFamily="34" charset="0"/>
              </a:rPr>
              <a:t>de las horas son de tipo electrónico (eléctricas)</a:t>
            </a:r>
            <a:endParaRPr lang="es-PE" sz="125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F82FAE3-5447-C7D5-D341-09B8CD5B53E0}"/>
              </a:ext>
            </a:extLst>
          </p:cNvPr>
          <p:cNvSpPr/>
          <p:nvPr/>
        </p:nvSpPr>
        <p:spPr>
          <a:xfrm>
            <a:off x="508000" y="4572000"/>
            <a:ext cx="3175000" cy="1397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D5F63C1-585C-E17D-635F-DA779B8447B9}"/>
              </a:ext>
            </a:extLst>
          </p:cNvPr>
          <p:cNvSpPr txBox="1"/>
          <p:nvPr/>
        </p:nvSpPr>
        <p:spPr>
          <a:xfrm>
            <a:off x="787400" y="47752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3200" b="1">
                <a:solidFill>
                  <a:srgbClr val="1F2E4D"/>
                </a:solidFill>
                <a:latin typeface="Calibri" panose="020F0502020204030204" pitchFamily="34" charset="0"/>
              </a:rPr>
              <a:t>1,824 h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B43C356-F0CD-9112-4338-2E0426CF89D1}"/>
              </a:ext>
            </a:extLst>
          </p:cNvPr>
          <p:cNvSpPr txBox="1"/>
          <p:nvPr/>
        </p:nvSpPr>
        <p:spPr>
          <a:xfrm>
            <a:off x="787400" y="5334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250">
                <a:solidFill>
                  <a:srgbClr val="374151"/>
                </a:solidFill>
                <a:latin typeface="Calibri" panose="020F0502020204030204" pitchFamily="34" charset="0"/>
              </a:rPr>
              <a:t>corresponden a BCM (PI7, PI8, PI9 y PI11)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F4B9612-BAD6-796B-5024-FF95709618D2}"/>
              </a:ext>
            </a:extLst>
          </p:cNvPr>
          <p:cNvSpPr txBox="1"/>
          <p:nvPr/>
        </p:nvSpPr>
        <p:spPr>
          <a:xfrm>
            <a:off x="4191000" y="14224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400" b="1">
                <a:solidFill>
                  <a:srgbClr val="1F2E4D"/>
                </a:solidFill>
                <a:latin typeface="Calibri" panose="020F0502020204030204" pitchFamily="34" charset="0"/>
              </a:rPr>
              <a:t>Horas de delay por grupo y especialidad</a:t>
            </a:r>
            <a:endParaRPr lang="es-PE" sz="14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24988D2C-4F9B-753B-54A9-A795C283B5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9312198"/>
              </p:ext>
            </p:extLst>
          </p:nvPr>
        </p:nvGraphicFramePr>
        <p:xfrm>
          <a:off x="4064000" y="1727200"/>
          <a:ext cx="7620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B9F146A8-73F5-2D26-DC25-B32AD7E46E0C}"/>
              </a:ext>
            </a:extLst>
          </p:cNvPr>
          <p:cNvSpPr txBox="1"/>
          <p:nvPr/>
        </p:nvSpPr>
        <p:spPr>
          <a:xfrm>
            <a:off x="508000" y="62484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900" i="1">
                <a:solidFill>
                  <a:srgbClr val="6B7280"/>
                </a:solidFill>
                <a:latin typeface="Calibri" panose="020F0502020204030204" pitchFamily="34" charset="0"/>
              </a:rPr>
              <a:t>Fuente: registro de delays (02 ene – 03 set 2026). Electrónico = delays tipo 'Eléctricas'. No incluye PI1 (14.5 h).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D312467-7AB4-0B4A-E3C6-211F421D2C2F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9D90A66-D130-BC3C-A9B0-D644924A6016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17674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0B791C9-8913-70D0-F1C2-83BF95BC64C8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SITUACIÓN ACTUAL  ·  TENDENCIA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F46F14-CB4C-3D7C-2A7E-40CC74162B73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600" b="1">
                <a:solidFill>
                  <a:srgbClr val="1F2E4D"/>
                </a:solidFill>
                <a:latin typeface="Calibri" panose="020F0502020204030204" pitchFamily="34" charset="0"/>
              </a:rPr>
              <a:t>Las horas de delay mensuales bajaron 29% entre enero y agosto</a:t>
            </a:r>
            <a:endParaRPr lang="es-PE" sz="26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C070BF5-6625-2506-8FE4-2064D7F912BA}"/>
              </a:ext>
            </a:extLst>
          </p:cNvPr>
          <p:cNvSpPr txBox="1"/>
          <p:nvPr/>
        </p:nvSpPr>
        <p:spPr>
          <a:xfrm>
            <a:off x="508000" y="14224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400" b="1">
                <a:solidFill>
                  <a:srgbClr val="1F2E4D"/>
                </a:solidFill>
                <a:latin typeface="Calibri" panose="020F0502020204030204" pitchFamily="34" charset="0"/>
              </a:rPr>
              <a:t>Horas de delay por mes (2026)</a:t>
            </a:r>
            <a:endParaRPr lang="es-PE" sz="14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8683E641-222C-EF3E-5A1B-D7BB6D1761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4238362"/>
              </p:ext>
            </p:extLst>
          </p:nvPr>
        </p:nvGraphicFramePr>
        <p:xfrm>
          <a:off x="381000" y="1727200"/>
          <a:ext cx="5588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E6F6FDDD-ED42-7F34-406B-05B4C11DCE94}"/>
              </a:ext>
            </a:extLst>
          </p:cNvPr>
          <p:cNvSpPr txBox="1"/>
          <p:nvPr/>
        </p:nvSpPr>
        <p:spPr>
          <a:xfrm>
            <a:off x="6350000" y="14224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1F2E4D"/>
                </a:solidFill>
                <a:latin typeface="Calibri" panose="020F0502020204030204" pitchFamily="34" charset="0"/>
              </a:rPr>
              <a:t>Horas de delay por área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302658C1-0147-42C6-0400-434E321572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5503025"/>
              </p:ext>
            </p:extLst>
          </p:nvPr>
        </p:nvGraphicFramePr>
        <p:xfrm>
          <a:off x="6223000" y="1727200"/>
          <a:ext cx="5588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DDF2BBD7-E3C8-77B3-60E0-8DDDFA591E42}"/>
              </a:ext>
            </a:extLst>
          </p:cNvPr>
          <p:cNvSpPr txBox="1"/>
          <p:nvPr/>
        </p:nvSpPr>
        <p:spPr>
          <a:xfrm>
            <a:off x="508000" y="62484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i="1">
                <a:solidFill>
                  <a:srgbClr val="6B7280"/>
                </a:solidFill>
                <a:latin typeface="Calibri" panose="020F0502020204030204" pitchFamily="34" charset="0"/>
              </a:rPr>
              <a:t>Setiembre no se muestra (datos parciales al 3 de setiembre). Áreas según la clasificación del registro de delays.</a:t>
            </a:r>
            <a:endParaRPr lang="es-PE" sz="900" i="1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00EA791-017A-50E1-DF60-4AB780EC0524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426AF11-AE11-99CB-3971-4120A5CE398A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45048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90069E7-617F-541C-03CC-0B22C64FAABF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METODOLOGÍA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F47BB31-7790-7DD6-84BE-9FC6E1AC6CB7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600" b="1">
                <a:solidFill>
                  <a:srgbClr val="1F2E4D"/>
                </a:solidFill>
                <a:latin typeface="Calibri" panose="020F0502020204030204" pitchFamily="34" charset="0"/>
              </a:rPr>
              <a:t>Cómo se construyó la propuesta</a:t>
            </a:r>
            <a:endParaRPr lang="es-PE" sz="26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D89BF0D-45B7-F6BF-AA61-2F3301B76450}"/>
              </a:ext>
            </a:extLst>
          </p:cNvPr>
          <p:cNvCxnSpPr/>
          <p:nvPr/>
        </p:nvCxnSpPr>
        <p:spPr>
          <a:xfrm>
            <a:off x="1397000" y="1905000"/>
            <a:ext cx="9398000" cy="0"/>
          </a:xfrm>
          <a:prstGeom prst="line">
            <a:avLst/>
          </a:prstGeom>
          <a:ln w="254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032DA032-C3FC-7740-9B75-70A12C22860D}"/>
              </a:ext>
            </a:extLst>
          </p:cNvPr>
          <p:cNvSpPr/>
          <p:nvPr/>
        </p:nvSpPr>
        <p:spPr>
          <a:xfrm>
            <a:off x="1066800" y="1574800"/>
            <a:ext cx="660400" cy="660400"/>
          </a:xfrm>
          <a:prstGeom prst="ellipse">
            <a:avLst/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sz="20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51FF481-B498-DF2D-111B-903F45701287}"/>
              </a:ext>
            </a:extLst>
          </p:cNvPr>
          <p:cNvSpPr txBox="1"/>
          <p:nvPr/>
        </p:nvSpPr>
        <p:spPr>
          <a:xfrm>
            <a:off x="381000" y="2387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PE" sz="1500" b="1">
                <a:solidFill>
                  <a:srgbClr val="1F2E4D"/>
                </a:solidFill>
                <a:latin typeface="Calibri" panose="020F0502020204030204" pitchFamily="34" charset="0"/>
              </a:rPr>
              <a:t>Registro de delays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6BA178C-8712-7595-325B-7AB923BE6928}"/>
              </a:ext>
            </a:extLst>
          </p:cNvPr>
          <p:cNvSpPr txBox="1"/>
          <p:nvPr/>
        </p:nvSpPr>
        <p:spPr>
          <a:xfrm>
            <a:off x="381000" y="26924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Horas por máquina, módulo y tipo (ene – set 2026).</a:t>
            </a:r>
            <a:endParaRPr lang="es-PE" sz="12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577E687-D9EE-3F6D-E06A-355FDA3EC89A}"/>
              </a:ext>
            </a:extLst>
          </p:cNvPr>
          <p:cNvSpPr/>
          <p:nvPr/>
        </p:nvSpPr>
        <p:spPr>
          <a:xfrm>
            <a:off x="3416300" y="1574800"/>
            <a:ext cx="660400" cy="660400"/>
          </a:xfrm>
          <a:prstGeom prst="ellipse">
            <a:avLst/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sz="20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9D46090-7DD5-D556-0F23-3C1577698DEE}"/>
              </a:ext>
            </a:extLst>
          </p:cNvPr>
          <p:cNvSpPr txBox="1"/>
          <p:nvPr/>
        </p:nvSpPr>
        <p:spPr>
          <a:xfrm>
            <a:off x="2730500" y="2387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PE" sz="1500" b="1">
                <a:solidFill>
                  <a:srgbClr val="1F2E4D"/>
                </a:solidFill>
                <a:latin typeface="Calibri" panose="020F0502020204030204" pitchFamily="34" charset="0"/>
              </a:rPr>
              <a:t>Módulos críticos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03632EC-7443-84D9-4FA4-FA8C61661380}"/>
              </a:ext>
            </a:extLst>
          </p:cNvPr>
          <p:cNvSpPr txBox="1"/>
          <p:nvPr/>
        </p:nvSpPr>
        <p:spPr>
          <a:xfrm>
            <a:off x="2730500" y="26924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Pareto por grupo y especialidad: módulos asignados al 80%.</a:t>
            </a:r>
            <a:endParaRPr lang="es-PE" sz="12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62F8DCA-C082-10E2-1AD3-F87E23D0A28A}"/>
              </a:ext>
            </a:extLst>
          </p:cNvPr>
          <p:cNvSpPr/>
          <p:nvPr/>
        </p:nvSpPr>
        <p:spPr>
          <a:xfrm>
            <a:off x="5765800" y="1574800"/>
            <a:ext cx="660400" cy="660400"/>
          </a:xfrm>
          <a:prstGeom prst="ellipse">
            <a:avLst/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sz="20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905F630-DAD2-B885-8605-0EB2894CE1BA}"/>
              </a:ext>
            </a:extLst>
          </p:cNvPr>
          <p:cNvSpPr txBox="1"/>
          <p:nvPr/>
        </p:nvSpPr>
        <p:spPr>
          <a:xfrm>
            <a:off x="5080000" y="2387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PE" sz="1500" b="1">
                <a:solidFill>
                  <a:srgbClr val="1F2E4D"/>
                </a:solidFill>
                <a:latin typeface="Calibri" panose="020F0502020204030204" pitchFamily="34" charset="0"/>
              </a:rPr>
              <a:t>Evaluación de planes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F8136E1-31A8-A6EE-5913-99B4D106E51D}"/>
              </a:ext>
            </a:extLst>
          </p:cNvPr>
          <p:cNvSpPr txBox="1"/>
          <p:nvPr/>
        </p:nvSpPr>
        <p:spPr>
          <a:xfrm>
            <a:off x="5080000" y="26924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PE" sz="1200">
                <a:solidFill>
                  <a:srgbClr val="374151"/>
                </a:solidFill>
                <a:latin typeface="Calibri" panose="020F0502020204030204" pitchFamily="34" charset="0"/>
              </a:rPr>
              <a:t>Cada plan de SAP: mantener, modificar, eliminar o agregar.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302DCAF-D409-7105-507B-41A8A98D05EA}"/>
              </a:ext>
            </a:extLst>
          </p:cNvPr>
          <p:cNvSpPr/>
          <p:nvPr/>
        </p:nvSpPr>
        <p:spPr>
          <a:xfrm>
            <a:off x="8115300" y="1574800"/>
            <a:ext cx="660400" cy="660400"/>
          </a:xfrm>
          <a:prstGeom prst="ellipse">
            <a:avLst/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sz="20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3255A97-FCB7-728D-A8D3-E55E56E2A258}"/>
              </a:ext>
            </a:extLst>
          </p:cNvPr>
          <p:cNvSpPr txBox="1"/>
          <p:nvPr/>
        </p:nvSpPr>
        <p:spPr>
          <a:xfrm>
            <a:off x="7429500" y="2387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PE" sz="1500" b="1">
                <a:solidFill>
                  <a:srgbClr val="1F2E4D"/>
                </a:solidFill>
                <a:latin typeface="Calibri" panose="020F0502020204030204" pitchFamily="34" charset="0"/>
              </a:rPr>
              <a:t>Ajustes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5601053-BB45-FC5F-43D8-B17CB7433C5F}"/>
              </a:ext>
            </a:extLst>
          </p:cNvPr>
          <p:cNvSpPr txBox="1"/>
          <p:nvPr/>
        </p:nvSpPr>
        <p:spPr>
          <a:xfrm>
            <a:off x="7429500" y="26924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200" dirty="0">
                <a:solidFill>
                  <a:srgbClr val="374151"/>
                </a:solidFill>
                <a:latin typeface="Calibri" panose="020F0502020204030204" pitchFamily="34" charset="0"/>
              </a:rPr>
              <a:t>Nueva frecuencia y puesto de trabajo</a:t>
            </a:r>
            <a:endParaRPr lang="es-PE" sz="1200" dirty="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0810F885-3101-BF75-E448-F4D3B10CFFD6}"/>
              </a:ext>
            </a:extLst>
          </p:cNvPr>
          <p:cNvSpPr/>
          <p:nvPr/>
        </p:nvSpPr>
        <p:spPr>
          <a:xfrm>
            <a:off x="10464800" y="1574800"/>
            <a:ext cx="660400" cy="660400"/>
          </a:xfrm>
          <a:prstGeom prst="ellipse">
            <a:avLst/>
          </a:prstGeom>
          <a:solidFill>
            <a:srgbClr val="E457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sz="2000" b="1">
                <a:solidFill>
                  <a:srgbClr val="FFFFFF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E1E26C4-F9B0-3BB6-8B37-3A270DC3B526}"/>
              </a:ext>
            </a:extLst>
          </p:cNvPr>
          <p:cNvSpPr txBox="1"/>
          <p:nvPr/>
        </p:nvSpPr>
        <p:spPr>
          <a:xfrm>
            <a:off x="9779000" y="2387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PE" sz="1500" b="1">
                <a:solidFill>
                  <a:srgbClr val="1F2E4D"/>
                </a:solidFill>
                <a:latin typeface="Calibri" panose="020F0502020204030204" pitchFamily="34" charset="0"/>
              </a:rPr>
              <a:t>Consolidación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E8DAD87-A8C7-988E-E6CE-454B01EA520D}"/>
              </a:ext>
            </a:extLst>
          </p:cNvPr>
          <p:cNvSpPr txBox="1"/>
          <p:nvPr/>
        </p:nvSpPr>
        <p:spPr>
          <a:xfrm>
            <a:off x="9779000" y="26924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Base única con filtros e indicadores para el seguimiento.</a:t>
            </a:r>
            <a:endParaRPr lang="es-PE" sz="12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14FAFD4-65DA-414D-4C03-5E7DD82E448B}"/>
              </a:ext>
            </a:extLst>
          </p:cNvPr>
          <p:cNvSpPr txBox="1"/>
          <p:nvPr/>
        </p:nvSpPr>
        <p:spPr>
          <a:xfrm>
            <a:off x="508000" y="37846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500" b="1">
                <a:solidFill>
                  <a:srgbClr val="1F2E4D"/>
                </a:solidFill>
                <a:latin typeface="Calibri" panose="020F0502020204030204" pitchFamily="34" charset="0"/>
              </a:rPr>
              <a:t>Criterios de clasificación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10EFE693-B251-1E63-D3A4-0E445E11D1AE}"/>
              </a:ext>
            </a:extLst>
          </p:cNvPr>
          <p:cNvSpPr/>
          <p:nvPr/>
        </p:nvSpPr>
        <p:spPr>
          <a:xfrm>
            <a:off x="508000" y="4165600"/>
            <a:ext cx="3556000" cy="1600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80A251A-AD7F-77B6-58C3-C125054F5C11}"/>
              </a:ext>
            </a:extLst>
          </p:cNvPr>
          <p:cNvSpPr txBox="1"/>
          <p:nvPr/>
        </p:nvSpPr>
        <p:spPr>
          <a:xfrm>
            <a:off x="762000" y="43942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E4572E"/>
                </a:solidFill>
                <a:latin typeface="Calibri" panose="020F0502020204030204" pitchFamily="34" charset="0"/>
              </a:rPr>
              <a:t>Alcance 80%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91DC133-528E-1562-470E-BB2EA42E738B}"/>
              </a:ext>
            </a:extLst>
          </p:cNvPr>
          <p:cNvSpPr txBox="1"/>
          <p:nvPr/>
        </p:nvSpPr>
        <p:spPr>
          <a:xfrm>
            <a:off x="762000" y="4724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Dentro: planes eléctricos, de adhesivos (SC_ADHE) y mecánicos/electrónicos de módulos "Proceso 80%". Empacado, instrumentación (SC_INS) y el resto: fuera del 80%.</a:t>
            </a:r>
            <a:endParaRPr lang="es-PE" sz="12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F3B53E99-D16C-FAE5-1264-BEE843105796}"/>
              </a:ext>
            </a:extLst>
          </p:cNvPr>
          <p:cNvSpPr/>
          <p:nvPr/>
        </p:nvSpPr>
        <p:spPr>
          <a:xfrm>
            <a:off x="4318000" y="4165600"/>
            <a:ext cx="3556000" cy="1600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18DFB66-1E0F-067B-837E-07C7B92F2754}"/>
              </a:ext>
            </a:extLst>
          </p:cNvPr>
          <p:cNvSpPr txBox="1"/>
          <p:nvPr/>
        </p:nvSpPr>
        <p:spPr>
          <a:xfrm>
            <a:off x="4572000" y="43942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E4572E"/>
                </a:solidFill>
                <a:latin typeface="Calibri" panose="020F0502020204030204" pitchFamily="34" charset="0"/>
              </a:rPr>
              <a:t>Tipo de plan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8C5B093-44DA-09DA-6DAB-B920B850CE81}"/>
              </a:ext>
            </a:extLst>
          </p:cNvPr>
          <p:cNvSpPr txBox="1"/>
          <p:nvPr/>
        </p:nvSpPr>
        <p:spPr>
          <a:xfrm>
            <a:off x="4572000" y="4724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Inspección de ruta (IR) cuando la descripción del plan contiene "IR"; en otro caso, mantenimiento.</a:t>
            </a:r>
            <a:endParaRPr lang="es-PE" sz="12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268343ED-A0AA-BBBB-E8B6-FE8C8F2EAB7F}"/>
              </a:ext>
            </a:extLst>
          </p:cNvPr>
          <p:cNvSpPr/>
          <p:nvPr/>
        </p:nvSpPr>
        <p:spPr>
          <a:xfrm>
            <a:off x="8128000" y="4165600"/>
            <a:ext cx="3556000" cy="1600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4807D3F-1188-7B34-9C75-4964C2A59ACB}"/>
              </a:ext>
            </a:extLst>
          </p:cNvPr>
          <p:cNvSpPr txBox="1"/>
          <p:nvPr/>
        </p:nvSpPr>
        <p:spPr>
          <a:xfrm>
            <a:off x="8382000" y="43942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E4572E"/>
                </a:solidFill>
                <a:latin typeface="Calibri" panose="020F0502020204030204" pitchFamily="34" charset="0"/>
              </a:rPr>
              <a:t>Especialidad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FB343B1-AE97-7912-81BA-2D05C985E35C}"/>
              </a:ext>
            </a:extLst>
          </p:cNvPr>
          <p:cNvSpPr txBox="1"/>
          <p:nvPr/>
        </p:nvSpPr>
        <p:spPr>
          <a:xfrm>
            <a:off x="8382000" y="4724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Mecánica y electrónica: planes de proceso por máquina (electrónica incluye instrumentación). Eléctrica: planta, servicios y máquinas. Adhesivos: planes SC_ADHE.</a:t>
            </a:r>
            <a:endParaRPr lang="es-PE" sz="12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424042C-124C-7102-1DD5-554421AB8AF1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1C3D69D-D2F8-3837-A998-88A214D42849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13625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AD0D73F-A42A-DC71-8D3F-846EA44D8A8E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MÓDULOS CRÍTICOS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7144055-15B5-B402-CF07-03692D16864E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2600" b="1">
                <a:solidFill>
                  <a:srgbClr val="1F2E4D"/>
                </a:solidFill>
                <a:latin typeface="Calibri" panose="020F0502020204030204" pitchFamily="34" charset="0"/>
              </a:rPr>
              <a:t>Cobertura de delays de los módulos priorizados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648E45E-981F-8C10-0994-34C3B91EAC0B}"/>
              </a:ext>
            </a:extLst>
          </p:cNvPr>
          <p:cNvSpPr txBox="1"/>
          <p:nvPr/>
        </p:nvSpPr>
        <p:spPr>
          <a:xfrm>
            <a:off x="6324600" y="14224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PE" sz="1000" b="1">
                <a:solidFill>
                  <a:srgbClr val="E4572E"/>
                </a:solidFill>
                <a:latin typeface="Calibri" panose="020F0502020204030204" pitchFamily="34" charset="0"/>
              </a:rPr>
              <a:t>Meta 80%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D30188-BBB8-962D-D06E-27507CF4AC60}"/>
              </a:ext>
            </a:extLst>
          </p:cNvPr>
          <p:cNvSpPr txBox="1"/>
          <p:nvPr/>
        </p:nvSpPr>
        <p:spPr>
          <a:xfrm>
            <a:off x="508000" y="17399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2E7A5E"/>
                </a:solidFill>
                <a:latin typeface="Calibri" panose="020F0502020204030204" pitchFamily="34" charset="0"/>
              </a:rPr>
              <a:t>BCM · Mecánico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772EF7C-A99B-1883-7A7B-D97196248F73}"/>
              </a:ext>
            </a:extLst>
          </p:cNvPr>
          <p:cNvSpPr txBox="1"/>
          <p:nvPr/>
        </p:nvSpPr>
        <p:spPr>
          <a:xfrm>
            <a:off x="508000" y="19812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>
                <a:solidFill>
                  <a:srgbClr val="6B7280"/>
                </a:solidFill>
                <a:latin typeface="Calibri" panose="020F0502020204030204" pitchFamily="34" charset="0"/>
              </a:rPr>
              <a:t>10 módulos · 286.6 de 576.9 h</a:t>
            </a:r>
            <a:endParaRPr lang="es-PE" sz="105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085FBDF-3DDC-7BA7-71B6-2E6D810BFD81}"/>
              </a:ext>
            </a:extLst>
          </p:cNvPr>
          <p:cNvSpPr/>
          <p:nvPr/>
        </p:nvSpPr>
        <p:spPr>
          <a:xfrm>
            <a:off x="3175000" y="1828800"/>
            <a:ext cx="4572000" cy="203200"/>
          </a:xfrm>
          <a:prstGeom prst="rect">
            <a:avLst/>
          </a:prstGeom>
          <a:solidFill>
            <a:srgbClr val="E9EC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79D8597-D48C-8C27-5E71-ADFDB350FFF6}"/>
              </a:ext>
            </a:extLst>
          </p:cNvPr>
          <p:cNvSpPr/>
          <p:nvPr/>
        </p:nvSpPr>
        <p:spPr>
          <a:xfrm>
            <a:off x="3175000" y="1828800"/>
            <a:ext cx="2273300" cy="203200"/>
          </a:xfrm>
          <a:prstGeom prst="rect">
            <a:avLst/>
          </a:prstGeom>
          <a:solidFill>
            <a:srgbClr val="2E7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56A9FAD-2462-1E70-7D14-4C92766F6DC2}"/>
              </a:ext>
            </a:extLst>
          </p:cNvPr>
          <p:cNvSpPr txBox="1"/>
          <p:nvPr/>
        </p:nvSpPr>
        <p:spPr>
          <a:xfrm>
            <a:off x="7899400" y="18034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2E7A5E"/>
                </a:solidFill>
                <a:latin typeface="Calibri" panose="020F0502020204030204" pitchFamily="34" charset="0"/>
              </a:rPr>
              <a:t>49.7%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BA64CC9-14FB-B976-980E-B19B469481A9}"/>
              </a:ext>
            </a:extLst>
          </p:cNvPr>
          <p:cNvSpPr txBox="1"/>
          <p:nvPr/>
        </p:nvSpPr>
        <p:spPr>
          <a:xfrm>
            <a:off x="508000" y="23495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6B3A8B"/>
                </a:solidFill>
                <a:latin typeface="Calibri" panose="020F0502020204030204" pitchFamily="34" charset="0"/>
              </a:rPr>
              <a:t>BCM · Electrónico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88126F6-AC14-A4AB-74BF-5C7B23FE5AB0}"/>
              </a:ext>
            </a:extLst>
          </p:cNvPr>
          <p:cNvSpPr txBox="1"/>
          <p:nvPr/>
        </p:nvSpPr>
        <p:spPr>
          <a:xfrm>
            <a:off x="508000" y="25908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>
                <a:solidFill>
                  <a:srgbClr val="6B7280"/>
                </a:solidFill>
                <a:latin typeface="Calibri" panose="020F0502020204030204" pitchFamily="34" charset="0"/>
              </a:rPr>
              <a:t>12 módulos · 716.2 de 1,247.0 h</a:t>
            </a:r>
            <a:endParaRPr lang="es-PE" sz="105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6F11FAC-6623-FEF2-5C2D-43268F155B57}"/>
              </a:ext>
            </a:extLst>
          </p:cNvPr>
          <p:cNvSpPr/>
          <p:nvPr/>
        </p:nvSpPr>
        <p:spPr>
          <a:xfrm>
            <a:off x="3175000" y="2438400"/>
            <a:ext cx="4572000" cy="203200"/>
          </a:xfrm>
          <a:prstGeom prst="rect">
            <a:avLst/>
          </a:prstGeom>
          <a:solidFill>
            <a:srgbClr val="E9EC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2DB5280-9461-64F1-4404-6C7A686213C9}"/>
              </a:ext>
            </a:extLst>
          </p:cNvPr>
          <p:cNvSpPr/>
          <p:nvPr/>
        </p:nvSpPr>
        <p:spPr>
          <a:xfrm>
            <a:off x="3175000" y="2438400"/>
            <a:ext cx="2628900" cy="203200"/>
          </a:xfrm>
          <a:prstGeom prst="rect">
            <a:avLst/>
          </a:prstGeom>
          <a:solidFill>
            <a:srgbClr val="6B3A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32A93C7-DEBF-3E87-FD85-F19D5EE85C44}"/>
              </a:ext>
            </a:extLst>
          </p:cNvPr>
          <p:cNvSpPr txBox="1"/>
          <p:nvPr/>
        </p:nvSpPr>
        <p:spPr>
          <a:xfrm>
            <a:off x="7899400" y="24130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6B3A8B"/>
                </a:solidFill>
                <a:latin typeface="Calibri" panose="020F0502020204030204" pitchFamily="34" charset="0"/>
              </a:rPr>
              <a:t>57.4%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5D7AD63-AF10-1DE9-385A-37FBF12558FE}"/>
              </a:ext>
            </a:extLst>
          </p:cNvPr>
          <p:cNvSpPr txBox="1"/>
          <p:nvPr/>
        </p:nvSpPr>
        <p:spPr>
          <a:xfrm>
            <a:off x="508000" y="29591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2E7A5E"/>
                </a:solidFill>
                <a:latin typeface="Calibri" panose="020F0502020204030204" pitchFamily="34" charset="0"/>
              </a:rPr>
              <a:t>PADS · Mecánico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C09B4F-D421-4E84-2AA3-DFC19A7188FB}"/>
              </a:ext>
            </a:extLst>
          </p:cNvPr>
          <p:cNvSpPr txBox="1"/>
          <p:nvPr/>
        </p:nvSpPr>
        <p:spPr>
          <a:xfrm>
            <a:off x="508000" y="32004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>
                <a:solidFill>
                  <a:srgbClr val="6B7280"/>
                </a:solidFill>
                <a:latin typeface="Calibri" panose="020F0502020204030204" pitchFamily="34" charset="0"/>
              </a:rPr>
              <a:t>8 módulos · 79.3 de 180.0 h</a:t>
            </a:r>
            <a:endParaRPr lang="es-PE" sz="105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9C5C681-8B82-5CF6-695D-3C0FEB54505A}"/>
              </a:ext>
            </a:extLst>
          </p:cNvPr>
          <p:cNvSpPr/>
          <p:nvPr/>
        </p:nvSpPr>
        <p:spPr>
          <a:xfrm>
            <a:off x="3175000" y="3048000"/>
            <a:ext cx="4572000" cy="203200"/>
          </a:xfrm>
          <a:prstGeom prst="rect">
            <a:avLst/>
          </a:prstGeom>
          <a:solidFill>
            <a:srgbClr val="E9EC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2C6DBB8-F029-55BB-3E40-3E23DA28DE78}"/>
              </a:ext>
            </a:extLst>
          </p:cNvPr>
          <p:cNvSpPr/>
          <p:nvPr/>
        </p:nvSpPr>
        <p:spPr>
          <a:xfrm>
            <a:off x="3175000" y="3048000"/>
            <a:ext cx="2019300" cy="203200"/>
          </a:xfrm>
          <a:prstGeom prst="rect">
            <a:avLst/>
          </a:prstGeom>
          <a:solidFill>
            <a:srgbClr val="2E7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602D9CD-BB7B-0311-5BFE-3CB9C2E00902}"/>
              </a:ext>
            </a:extLst>
          </p:cNvPr>
          <p:cNvSpPr txBox="1"/>
          <p:nvPr/>
        </p:nvSpPr>
        <p:spPr>
          <a:xfrm>
            <a:off x="7899400" y="30226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2E7A5E"/>
                </a:solidFill>
                <a:latin typeface="Calibri" panose="020F0502020204030204" pitchFamily="34" charset="0"/>
              </a:rPr>
              <a:t>44.1%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F8876B5-E248-1CA4-29CA-09AA8FE432B1}"/>
              </a:ext>
            </a:extLst>
          </p:cNvPr>
          <p:cNvSpPr txBox="1"/>
          <p:nvPr/>
        </p:nvSpPr>
        <p:spPr>
          <a:xfrm>
            <a:off x="508000" y="35687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6B3A8B"/>
                </a:solidFill>
                <a:latin typeface="Calibri" panose="020F0502020204030204" pitchFamily="34" charset="0"/>
              </a:rPr>
              <a:t>PADS · Electrónico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702B794-BDED-6C39-4FD4-A4A6CF699BB4}"/>
              </a:ext>
            </a:extLst>
          </p:cNvPr>
          <p:cNvSpPr txBox="1"/>
          <p:nvPr/>
        </p:nvSpPr>
        <p:spPr>
          <a:xfrm>
            <a:off x="508000" y="38100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>
                <a:solidFill>
                  <a:srgbClr val="6B7280"/>
                </a:solidFill>
                <a:latin typeface="Calibri" panose="020F0502020204030204" pitchFamily="34" charset="0"/>
              </a:rPr>
              <a:t>8 módulos · 366.0 de 728.8 h</a:t>
            </a:r>
            <a:endParaRPr lang="es-PE" sz="105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3E9DB63-6551-7391-F80F-DFD345A48FC7}"/>
              </a:ext>
            </a:extLst>
          </p:cNvPr>
          <p:cNvSpPr/>
          <p:nvPr/>
        </p:nvSpPr>
        <p:spPr>
          <a:xfrm>
            <a:off x="3175000" y="3657600"/>
            <a:ext cx="4572000" cy="203200"/>
          </a:xfrm>
          <a:prstGeom prst="rect">
            <a:avLst/>
          </a:prstGeom>
          <a:solidFill>
            <a:srgbClr val="E9EC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9207B0C-C878-0B67-6E25-52C8352CF211}"/>
              </a:ext>
            </a:extLst>
          </p:cNvPr>
          <p:cNvSpPr/>
          <p:nvPr/>
        </p:nvSpPr>
        <p:spPr>
          <a:xfrm>
            <a:off x="3175000" y="3657600"/>
            <a:ext cx="2298700" cy="203200"/>
          </a:xfrm>
          <a:prstGeom prst="rect">
            <a:avLst/>
          </a:prstGeom>
          <a:solidFill>
            <a:srgbClr val="6B3A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42DA016-E3AD-2DF7-1655-E000F85B84AF}"/>
              </a:ext>
            </a:extLst>
          </p:cNvPr>
          <p:cNvSpPr txBox="1"/>
          <p:nvPr/>
        </p:nvSpPr>
        <p:spPr>
          <a:xfrm>
            <a:off x="7899400" y="36322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6B3A8B"/>
                </a:solidFill>
                <a:latin typeface="Calibri" panose="020F0502020204030204" pitchFamily="34" charset="0"/>
              </a:rPr>
              <a:t>50.2%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6CE652E-C9FA-8F7A-916C-D9CED20F3F86}"/>
              </a:ext>
            </a:extLst>
          </p:cNvPr>
          <p:cNvSpPr txBox="1"/>
          <p:nvPr/>
        </p:nvSpPr>
        <p:spPr>
          <a:xfrm>
            <a:off x="508000" y="41783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2E7A5E"/>
                </a:solidFill>
                <a:latin typeface="Calibri" panose="020F0502020204030204" pitchFamily="34" charset="0"/>
              </a:rPr>
              <a:t>PF5 · Mecánico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D7ADB8-9F1B-B577-C2F4-4D6C5C3D6757}"/>
              </a:ext>
            </a:extLst>
          </p:cNvPr>
          <p:cNvSpPr txBox="1"/>
          <p:nvPr/>
        </p:nvSpPr>
        <p:spPr>
          <a:xfrm>
            <a:off x="508000" y="44196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>
                <a:solidFill>
                  <a:srgbClr val="6B7280"/>
                </a:solidFill>
                <a:latin typeface="Calibri" panose="020F0502020204030204" pitchFamily="34" charset="0"/>
              </a:rPr>
              <a:t>4 módulos · 50.8 de 126.0 h</a:t>
            </a:r>
            <a:endParaRPr lang="es-PE" sz="105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749B286-9AC7-2B12-3C76-DB8DEA51185A}"/>
              </a:ext>
            </a:extLst>
          </p:cNvPr>
          <p:cNvSpPr/>
          <p:nvPr/>
        </p:nvSpPr>
        <p:spPr>
          <a:xfrm>
            <a:off x="3175000" y="4267200"/>
            <a:ext cx="4572000" cy="203200"/>
          </a:xfrm>
          <a:prstGeom prst="rect">
            <a:avLst/>
          </a:prstGeom>
          <a:solidFill>
            <a:srgbClr val="E9EC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2C3275C-6E50-8C47-DD22-9D6142FDD0E6}"/>
              </a:ext>
            </a:extLst>
          </p:cNvPr>
          <p:cNvSpPr/>
          <p:nvPr/>
        </p:nvSpPr>
        <p:spPr>
          <a:xfrm>
            <a:off x="3175000" y="4267200"/>
            <a:ext cx="1841500" cy="203200"/>
          </a:xfrm>
          <a:prstGeom prst="rect">
            <a:avLst/>
          </a:prstGeom>
          <a:solidFill>
            <a:srgbClr val="2E7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49E9F17-DF2B-F665-1F34-D26E5015176D}"/>
              </a:ext>
            </a:extLst>
          </p:cNvPr>
          <p:cNvSpPr txBox="1"/>
          <p:nvPr/>
        </p:nvSpPr>
        <p:spPr>
          <a:xfrm>
            <a:off x="7899400" y="4241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2E7A5E"/>
                </a:solidFill>
                <a:latin typeface="Calibri" panose="020F0502020204030204" pitchFamily="34" charset="0"/>
              </a:rPr>
              <a:t>40.3%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3F1BE2C-0933-4D1D-19E8-91BC9E2ED7DD}"/>
              </a:ext>
            </a:extLst>
          </p:cNvPr>
          <p:cNvSpPr txBox="1"/>
          <p:nvPr/>
        </p:nvSpPr>
        <p:spPr>
          <a:xfrm>
            <a:off x="508000" y="47879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6B3A8B"/>
                </a:solidFill>
                <a:latin typeface="Calibri" panose="020F0502020204030204" pitchFamily="34" charset="0"/>
              </a:rPr>
              <a:t>PF5 · Electrónico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9A882E0-AAE7-BDEA-7A23-45BF1AA913FA}"/>
              </a:ext>
            </a:extLst>
          </p:cNvPr>
          <p:cNvSpPr txBox="1"/>
          <p:nvPr/>
        </p:nvSpPr>
        <p:spPr>
          <a:xfrm>
            <a:off x="508000" y="50292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>
                <a:solidFill>
                  <a:srgbClr val="6B7280"/>
                </a:solidFill>
                <a:latin typeface="Calibri" panose="020F0502020204030204" pitchFamily="34" charset="0"/>
              </a:rPr>
              <a:t>9 módulos · 72.6 de 216.5 h</a:t>
            </a:r>
            <a:endParaRPr lang="es-PE" sz="105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48F53ED-53E0-E65C-6B81-E38ECAFB8841}"/>
              </a:ext>
            </a:extLst>
          </p:cNvPr>
          <p:cNvSpPr/>
          <p:nvPr/>
        </p:nvSpPr>
        <p:spPr>
          <a:xfrm>
            <a:off x="3175000" y="4876800"/>
            <a:ext cx="4572000" cy="203200"/>
          </a:xfrm>
          <a:prstGeom prst="rect">
            <a:avLst/>
          </a:prstGeom>
          <a:solidFill>
            <a:srgbClr val="E9EC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2689BCC-F99D-05D7-20B7-F2903F420DC6}"/>
              </a:ext>
            </a:extLst>
          </p:cNvPr>
          <p:cNvSpPr/>
          <p:nvPr/>
        </p:nvSpPr>
        <p:spPr>
          <a:xfrm>
            <a:off x="3175000" y="4876800"/>
            <a:ext cx="1536700" cy="203200"/>
          </a:xfrm>
          <a:prstGeom prst="rect">
            <a:avLst/>
          </a:prstGeom>
          <a:solidFill>
            <a:srgbClr val="6B3A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52A494F-A75B-26C0-78E2-9C8B23BFD2FE}"/>
              </a:ext>
            </a:extLst>
          </p:cNvPr>
          <p:cNvSpPr txBox="1"/>
          <p:nvPr/>
        </p:nvSpPr>
        <p:spPr>
          <a:xfrm>
            <a:off x="7899400" y="48514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6B3A8B"/>
                </a:solidFill>
                <a:latin typeface="Calibri" panose="020F0502020204030204" pitchFamily="34" charset="0"/>
              </a:rPr>
              <a:t>33.5%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F339CBA-218F-FB68-4E13-F9141B77E30C}"/>
              </a:ext>
            </a:extLst>
          </p:cNvPr>
          <p:cNvSpPr txBox="1"/>
          <p:nvPr/>
        </p:nvSpPr>
        <p:spPr>
          <a:xfrm>
            <a:off x="508000" y="53975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2E7A5E"/>
                </a:solidFill>
                <a:latin typeface="Calibri" panose="020F0502020204030204" pitchFamily="34" charset="0"/>
              </a:rPr>
              <a:t>PA1 · Mecánico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B43766A-475C-8558-A2C3-66E6F7314C66}"/>
              </a:ext>
            </a:extLst>
          </p:cNvPr>
          <p:cNvSpPr txBox="1"/>
          <p:nvPr/>
        </p:nvSpPr>
        <p:spPr>
          <a:xfrm>
            <a:off x="508000" y="56388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50">
                <a:solidFill>
                  <a:srgbClr val="6B7280"/>
                </a:solidFill>
                <a:latin typeface="Calibri" panose="020F0502020204030204" pitchFamily="34" charset="0"/>
              </a:rPr>
              <a:t>8 módulos · 38.7 de 64.3 h</a:t>
            </a:r>
            <a:endParaRPr lang="es-PE" sz="105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AB4D4E9-E7CD-0BE7-0540-A79C974DD8EB}"/>
              </a:ext>
            </a:extLst>
          </p:cNvPr>
          <p:cNvSpPr/>
          <p:nvPr/>
        </p:nvSpPr>
        <p:spPr>
          <a:xfrm>
            <a:off x="3175000" y="5486400"/>
            <a:ext cx="4572000" cy="203200"/>
          </a:xfrm>
          <a:prstGeom prst="rect">
            <a:avLst/>
          </a:prstGeom>
          <a:solidFill>
            <a:srgbClr val="E9EC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37558860-36F0-B783-4987-C95C748CAA8A}"/>
              </a:ext>
            </a:extLst>
          </p:cNvPr>
          <p:cNvSpPr/>
          <p:nvPr/>
        </p:nvSpPr>
        <p:spPr>
          <a:xfrm>
            <a:off x="3175000" y="5486400"/>
            <a:ext cx="2755900" cy="203200"/>
          </a:xfrm>
          <a:prstGeom prst="rect">
            <a:avLst/>
          </a:prstGeom>
          <a:solidFill>
            <a:srgbClr val="2E7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0DDFBE8-FC93-D92B-00DE-F5816629C66F}"/>
              </a:ext>
            </a:extLst>
          </p:cNvPr>
          <p:cNvSpPr txBox="1"/>
          <p:nvPr/>
        </p:nvSpPr>
        <p:spPr>
          <a:xfrm>
            <a:off x="7899400" y="54610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2E7A5E"/>
                </a:solidFill>
                <a:latin typeface="Calibri" panose="020F0502020204030204" pitchFamily="34" charset="0"/>
              </a:rPr>
              <a:t>60.3%</a:t>
            </a:r>
          </a:p>
        </p:txBody>
      </p: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41ED7E62-2A5E-5196-B246-D66BBE1B77A7}"/>
              </a:ext>
            </a:extLst>
          </p:cNvPr>
          <p:cNvCxnSpPr/>
          <p:nvPr/>
        </p:nvCxnSpPr>
        <p:spPr>
          <a:xfrm>
            <a:off x="6832600" y="1651000"/>
            <a:ext cx="0" cy="4191000"/>
          </a:xfrm>
          <a:prstGeom prst="line">
            <a:avLst/>
          </a:prstGeom>
          <a:ln w="15875">
            <a:solidFill>
              <a:srgbClr val="E457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4B2CEA5C-676E-DF34-9FD1-2B2296C522ED}"/>
              </a:ext>
            </a:extLst>
          </p:cNvPr>
          <p:cNvSpPr/>
          <p:nvPr/>
        </p:nvSpPr>
        <p:spPr>
          <a:xfrm>
            <a:off x="8890000" y="1727200"/>
            <a:ext cx="2794000" cy="3175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5F7DBFA-5EF9-D1CC-41E5-A02E4D753C35}"/>
              </a:ext>
            </a:extLst>
          </p:cNvPr>
          <p:cNvSpPr txBox="1"/>
          <p:nvPr/>
        </p:nvSpPr>
        <p:spPr>
          <a:xfrm>
            <a:off x="9144000" y="1981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500" b="1">
                <a:solidFill>
                  <a:srgbClr val="1F2E4D"/>
                </a:solidFill>
                <a:latin typeface="Calibri" panose="020F0502020204030204" pitchFamily="34" charset="0"/>
              </a:rPr>
              <a:t>Lectura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FCE0EE3-AD37-5EA2-75F0-72E70C832DBC}"/>
              </a:ext>
            </a:extLst>
          </p:cNvPr>
          <p:cNvSpPr txBox="1"/>
          <p:nvPr/>
        </p:nvSpPr>
        <p:spPr>
          <a:xfrm>
            <a:off x="9144000" y="23368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8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Los módulos asignados explican entre 34% y 60% del delay de su especialidad.</a:t>
            </a:r>
          </a:p>
          <a:p>
            <a:pPr marL="152400" indent="-152400">
              <a:spcAft>
                <a:spcPts val="8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El resto del delay está repartido en muchos módulos de menor impacto.</a:t>
            </a:r>
          </a:p>
          <a:p>
            <a:pPr marL="152400" indent="-152400">
              <a:spcAft>
                <a:spcPts val="8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La propuesta prioriza los módulos con mayor impacto por plan, sin agregar módulos adicionales.</a:t>
            </a:r>
            <a:endParaRPr lang="es-PE" sz="12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F86825B-564F-9BFC-AA31-FC5FCD947A02}"/>
              </a:ext>
            </a:extLst>
          </p:cNvPr>
          <p:cNvSpPr txBox="1"/>
          <p:nvPr/>
        </p:nvSpPr>
        <p:spPr>
          <a:xfrm>
            <a:off x="508000" y="62484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i="1">
                <a:solidFill>
                  <a:srgbClr val="6B7280"/>
                </a:solidFill>
                <a:latin typeface="Calibri" panose="020F0502020204030204" pitchFamily="34" charset="0"/>
              </a:rPr>
              <a:t>% = horas de los módulos asignados / total de horas de delay del grupo y especialidad. PA1 electrónico no se incluye en el análisis.</a:t>
            </a:r>
            <a:endParaRPr lang="es-PE" sz="900" i="1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ABB22F5-F666-F4B3-EE38-23DCD662A5B1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F52E4FC5-D9B0-FDAF-6D86-3EAAA20384CF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9617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A86E185-0584-FB57-CB2B-35C79EE8BCA7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MÓDULOS CRÍTICOS  ·  BCM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184A6-63AC-05A7-E3A0-63B22CDD8643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600" b="1">
                <a:solidFill>
                  <a:srgbClr val="1F2E4D"/>
                </a:solidFill>
                <a:latin typeface="Calibri" panose="020F0502020204030204" pitchFamily="34" charset="0"/>
              </a:rPr>
              <a:t>BCM: el Central System explica el 17% del delay electrónico</a:t>
            </a:r>
            <a:endParaRPr lang="es-PE" sz="26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B0E8F6E-2304-15E4-7AEC-09CB6DD07486}"/>
              </a:ext>
            </a:extLst>
          </p:cNvPr>
          <p:cNvSpPr/>
          <p:nvPr/>
        </p:nvSpPr>
        <p:spPr>
          <a:xfrm>
            <a:off x="508000" y="1371600"/>
            <a:ext cx="381000" cy="381000"/>
          </a:xfrm>
          <a:prstGeom prst="ellipse">
            <a:avLst/>
          </a:prstGeom>
          <a:solidFill>
            <a:srgbClr val="2E7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Forma 4">
            <a:extLst>
              <a:ext uri="{FF2B5EF4-FFF2-40B4-BE49-F238E27FC236}">
                <a16:creationId xmlns:a16="http://schemas.microsoft.com/office/drawing/2014/main" id="{A5AA404D-839F-5995-54BF-432A1AD18710}"/>
              </a:ext>
            </a:extLst>
          </p:cNvPr>
          <p:cNvSpPr/>
          <p:nvPr/>
        </p:nvSpPr>
        <p:spPr>
          <a:xfrm>
            <a:off x="607060" y="1470660"/>
            <a:ext cx="182880" cy="182880"/>
          </a:xfrm>
          <a:prstGeom prst="gear6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2E00AA4-15AF-C5BC-A1C4-F821483141B3}"/>
              </a:ext>
            </a:extLst>
          </p:cNvPr>
          <p:cNvSpPr txBox="1"/>
          <p:nvPr/>
        </p:nvSpPr>
        <p:spPr>
          <a:xfrm>
            <a:off x="1016000" y="1384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2E7A5E"/>
                </a:solidFill>
                <a:latin typeface="Calibri" panose="020F0502020204030204" pitchFamily="34" charset="0"/>
              </a:rPr>
              <a:t>Mecánico · 10 módulos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B452E6B-2EDA-3901-D1AE-831C917184AE}"/>
              </a:ext>
            </a:extLst>
          </p:cNvPr>
          <p:cNvSpPr txBox="1"/>
          <p:nvPr/>
        </p:nvSpPr>
        <p:spPr>
          <a:xfrm>
            <a:off x="1016000" y="16002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50">
                <a:solidFill>
                  <a:srgbClr val="6B7280"/>
                </a:solidFill>
                <a:latin typeface="Calibri" panose="020F0502020204030204" pitchFamily="34" charset="0"/>
              </a:rPr>
              <a:t>286.6 h de 576.9 h  ·  49.7% del delay mecánico</a:t>
            </a: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30860D71-C162-09A8-F208-5F9855C37A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497897"/>
              </p:ext>
            </p:extLst>
          </p:nvPr>
        </p:nvGraphicFramePr>
        <p:xfrm>
          <a:off x="431800" y="1854200"/>
          <a:ext cx="5410200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Elipse 8">
            <a:extLst>
              <a:ext uri="{FF2B5EF4-FFF2-40B4-BE49-F238E27FC236}">
                <a16:creationId xmlns:a16="http://schemas.microsoft.com/office/drawing/2014/main" id="{E8BEC4EF-B03D-E7B4-891F-B64D5B117B22}"/>
              </a:ext>
            </a:extLst>
          </p:cNvPr>
          <p:cNvSpPr/>
          <p:nvPr/>
        </p:nvSpPr>
        <p:spPr>
          <a:xfrm>
            <a:off x="6350000" y="1371600"/>
            <a:ext cx="381000" cy="381000"/>
          </a:xfrm>
          <a:prstGeom prst="ellipse">
            <a:avLst/>
          </a:prstGeom>
          <a:solidFill>
            <a:srgbClr val="6B3A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ayo 9">
            <a:extLst>
              <a:ext uri="{FF2B5EF4-FFF2-40B4-BE49-F238E27FC236}">
                <a16:creationId xmlns:a16="http://schemas.microsoft.com/office/drawing/2014/main" id="{9FC8164E-4462-AD31-EC9D-56A15B039138}"/>
              </a:ext>
            </a:extLst>
          </p:cNvPr>
          <p:cNvSpPr/>
          <p:nvPr/>
        </p:nvSpPr>
        <p:spPr>
          <a:xfrm>
            <a:off x="6449060" y="1470660"/>
            <a:ext cx="182880" cy="182880"/>
          </a:xfrm>
          <a:prstGeom prst="lightningBol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E63F135-5500-1485-210C-7F540932E44B}"/>
              </a:ext>
            </a:extLst>
          </p:cNvPr>
          <p:cNvSpPr txBox="1"/>
          <p:nvPr/>
        </p:nvSpPr>
        <p:spPr>
          <a:xfrm>
            <a:off x="6858000" y="1384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6B3A8B"/>
                </a:solidFill>
                <a:latin typeface="Calibri" panose="020F0502020204030204" pitchFamily="34" charset="0"/>
              </a:rPr>
              <a:t>Electrónico · 12 módulos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6ECA40F-860E-2F97-21FE-22978D79086E}"/>
              </a:ext>
            </a:extLst>
          </p:cNvPr>
          <p:cNvSpPr txBox="1"/>
          <p:nvPr/>
        </p:nvSpPr>
        <p:spPr>
          <a:xfrm>
            <a:off x="6858000" y="16002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50">
                <a:solidFill>
                  <a:srgbClr val="6B7280"/>
                </a:solidFill>
                <a:latin typeface="Calibri" panose="020F0502020204030204" pitchFamily="34" charset="0"/>
              </a:rPr>
              <a:t>716.2 h de 1,247.0 h  ·  57.4% del delay electrónico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531F74E6-BB2E-6522-9872-CF19EE4457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6061192"/>
              </p:ext>
            </p:extLst>
          </p:nvPr>
        </p:nvGraphicFramePr>
        <p:xfrm>
          <a:off x="6273800" y="1854200"/>
          <a:ext cx="5410200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D2EB6370-13B6-72EC-F867-9D69A0A71B52}"/>
              </a:ext>
            </a:extLst>
          </p:cNvPr>
          <p:cNvSpPr txBox="1"/>
          <p:nvPr/>
        </p:nvSpPr>
        <p:spPr>
          <a:xfrm>
            <a:off x="508000" y="62484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900" i="1">
                <a:solidFill>
                  <a:srgbClr val="6B7280"/>
                </a:solidFill>
                <a:latin typeface="Calibri" panose="020F0502020204030204" pitchFamily="34" charset="0"/>
              </a:rPr>
              <a:t>Horas de delay por módulo asignado. BCM = PI7, PI8, PI9 y PI11.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3C11EE1-F819-7584-9FE3-7724C15176F6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CB78BF4-9099-97BA-AA7E-3ECDF9FC8AF7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55016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3C7A84-5D1C-B738-5A6C-FAD1FEAE781B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MÓDULOS CRÍTICOS  ·  PADS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BACE49A-68F8-0900-A9EC-54B6EF743320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2600" b="1">
                <a:solidFill>
                  <a:srgbClr val="1F2E4D"/>
                </a:solidFill>
                <a:latin typeface="Calibri" panose="020F0502020204030204" pitchFamily="34" charset="0"/>
              </a:rPr>
              <a:t>PADS: Central System, Seal Cut y Topsheet Unwind lideran el delay electrónico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261469E-24EE-69D2-D891-3AA1FEF162C1}"/>
              </a:ext>
            </a:extLst>
          </p:cNvPr>
          <p:cNvSpPr/>
          <p:nvPr/>
        </p:nvSpPr>
        <p:spPr>
          <a:xfrm>
            <a:off x="508000" y="1371600"/>
            <a:ext cx="381000" cy="381000"/>
          </a:xfrm>
          <a:prstGeom prst="ellipse">
            <a:avLst/>
          </a:prstGeom>
          <a:solidFill>
            <a:srgbClr val="2E7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Forma 4">
            <a:extLst>
              <a:ext uri="{FF2B5EF4-FFF2-40B4-BE49-F238E27FC236}">
                <a16:creationId xmlns:a16="http://schemas.microsoft.com/office/drawing/2014/main" id="{6C74B186-1575-F0A6-C016-8505AF7F632E}"/>
              </a:ext>
            </a:extLst>
          </p:cNvPr>
          <p:cNvSpPr/>
          <p:nvPr/>
        </p:nvSpPr>
        <p:spPr>
          <a:xfrm>
            <a:off x="607060" y="1470660"/>
            <a:ext cx="182880" cy="182880"/>
          </a:xfrm>
          <a:prstGeom prst="gear6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1CAAEA5-0B26-47D0-88A1-A16BCDA76EB1}"/>
              </a:ext>
            </a:extLst>
          </p:cNvPr>
          <p:cNvSpPr txBox="1"/>
          <p:nvPr/>
        </p:nvSpPr>
        <p:spPr>
          <a:xfrm>
            <a:off x="1016000" y="1384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2E7A5E"/>
                </a:solidFill>
                <a:latin typeface="Calibri" panose="020F0502020204030204" pitchFamily="34" charset="0"/>
              </a:rPr>
              <a:t>Mecánico · 8 módulos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A04061A-A559-4D1A-BD65-97BE25ABF42D}"/>
              </a:ext>
            </a:extLst>
          </p:cNvPr>
          <p:cNvSpPr txBox="1"/>
          <p:nvPr/>
        </p:nvSpPr>
        <p:spPr>
          <a:xfrm>
            <a:off x="1016000" y="16002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50">
                <a:solidFill>
                  <a:srgbClr val="6B7280"/>
                </a:solidFill>
                <a:latin typeface="Calibri" panose="020F0502020204030204" pitchFamily="34" charset="0"/>
              </a:rPr>
              <a:t>79.3 h de 180.0 h  ·  44.1% del delay mecánico</a:t>
            </a: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3104C211-8B74-E204-D86E-01A425879B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6393860"/>
              </p:ext>
            </p:extLst>
          </p:nvPr>
        </p:nvGraphicFramePr>
        <p:xfrm>
          <a:off x="431800" y="1854200"/>
          <a:ext cx="5410200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Elipse 8">
            <a:extLst>
              <a:ext uri="{FF2B5EF4-FFF2-40B4-BE49-F238E27FC236}">
                <a16:creationId xmlns:a16="http://schemas.microsoft.com/office/drawing/2014/main" id="{A4357582-6081-ED08-B427-D8591016F7F2}"/>
              </a:ext>
            </a:extLst>
          </p:cNvPr>
          <p:cNvSpPr/>
          <p:nvPr/>
        </p:nvSpPr>
        <p:spPr>
          <a:xfrm>
            <a:off x="6350000" y="1371600"/>
            <a:ext cx="381000" cy="381000"/>
          </a:xfrm>
          <a:prstGeom prst="ellipse">
            <a:avLst/>
          </a:prstGeom>
          <a:solidFill>
            <a:srgbClr val="6B3A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ayo 9">
            <a:extLst>
              <a:ext uri="{FF2B5EF4-FFF2-40B4-BE49-F238E27FC236}">
                <a16:creationId xmlns:a16="http://schemas.microsoft.com/office/drawing/2014/main" id="{D67616F1-B4D4-E679-05D3-05BF6BED9476}"/>
              </a:ext>
            </a:extLst>
          </p:cNvPr>
          <p:cNvSpPr/>
          <p:nvPr/>
        </p:nvSpPr>
        <p:spPr>
          <a:xfrm>
            <a:off x="6449060" y="1470660"/>
            <a:ext cx="182880" cy="182880"/>
          </a:xfrm>
          <a:prstGeom prst="lightningBol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A775F40-6646-BE08-0B8E-32377240C0B3}"/>
              </a:ext>
            </a:extLst>
          </p:cNvPr>
          <p:cNvSpPr txBox="1"/>
          <p:nvPr/>
        </p:nvSpPr>
        <p:spPr>
          <a:xfrm>
            <a:off x="6858000" y="1384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6B3A8B"/>
                </a:solidFill>
                <a:latin typeface="Calibri" panose="020F0502020204030204" pitchFamily="34" charset="0"/>
              </a:rPr>
              <a:t>Electrónico · 8 módulos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18521D3-EF56-378B-41C7-BB08173F2051}"/>
              </a:ext>
            </a:extLst>
          </p:cNvPr>
          <p:cNvSpPr txBox="1"/>
          <p:nvPr/>
        </p:nvSpPr>
        <p:spPr>
          <a:xfrm>
            <a:off x="6858000" y="16002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50">
                <a:solidFill>
                  <a:srgbClr val="6B7280"/>
                </a:solidFill>
                <a:latin typeface="Calibri" panose="020F0502020204030204" pitchFamily="34" charset="0"/>
              </a:rPr>
              <a:t>366.0 h de 728.8 h  ·  50.2% del delay electrónico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13C8687F-5F3D-81CC-B5BD-04E5A0D076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6900432"/>
              </p:ext>
            </p:extLst>
          </p:nvPr>
        </p:nvGraphicFramePr>
        <p:xfrm>
          <a:off x="6273800" y="1854200"/>
          <a:ext cx="5410200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2C8ECD18-07F4-575E-D0E4-D4672E0F08BC}"/>
              </a:ext>
            </a:extLst>
          </p:cNvPr>
          <p:cNvSpPr txBox="1"/>
          <p:nvPr/>
        </p:nvSpPr>
        <p:spPr>
          <a:xfrm>
            <a:off x="508000" y="62484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i="1">
                <a:solidFill>
                  <a:srgbClr val="6B7280"/>
                </a:solidFill>
                <a:latin typeface="Calibri" panose="020F0502020204030204" pitchFamily="34" charset="0"/>
              </a:rPr>
              <a:t>Horas de delay por módulo asignado. PADS = PF3 y PF4.</a:t>
            </a:r>
            <a:endParaRPr lang="es-PE" sz="900" i="1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AC1F24D-D81F-D10E-1AF6-A9F7B4FF71D6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5AF24A0-6E5C-DDB0-A68B-DD5452709B48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06401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93AB854-583B-3BD1-3780-9F6799922700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MÓDULOS CRÍTICOS  ·  PF5 Y PA1</a:t>
            </a:r>
            <a:endParaRPr lang="es-PE" sz="1100" b="1" spc="120">
              <a:solidFill>
                <a:srgbClr val="E4572E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FF535D2-58E2-9788-2FA1-B76F2E508D24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600" b="1">
                <a:solidFill>
                  <a:srgbClr val="1F2E4D"/>
                </a:solidFill>
                <a:latin typeface="Calibri" panose="020F0502020204030204" pitchFamily="34" charset="0"/>
              </a:rPr>
              <a:t>PF5 y PA1: módulos críticos por especialidad</a:t>
            </a:r>
            <a:endParaRPr lang="es-PE" sz="26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DA5F26A-6E41-0FBF-494B-4B1C8421389C}"/>
              </a:ext>
            </a:extLst>
          </p:cNvPr>
          <p:cNvSpPr txBox="1"/>
          <p:nvPr/>
        </p:nvSpPr>
        <p:spPr>
          <a:xfrm>
            <a:off x="508000" y="1320800"/>
            <a:ext cx="736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300" b="1">
                <a:solidFill>
                  <a:srgbClr val="1F2E4D"/>
                </a:solidFill>
                <a:latin typeface="Calibri" panose="020F0502020204030204" pitchFamily="34" charset="0"/>
              </a:rPr>
              <a:t>PF5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1082C01-086C-29BB-155A-F7E573887A9C}"/>
              </a:ext>
            </a:extLst>
          </p:cNvPr>
          <p:cNvSpPr txBox="1"/>
          <p:nvPr/>
        </p:nvSpPr>
        <p:spPr>
          <a:xfrm>
            <a:off x="8382000" y="1320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300" b="1">
                <a:solidFill>
                  <a:srgbClr val="1F2E4D"/>
                </a:solidFill>
                <a:latin typeface="Calibri" panose="020F0502020204030204" pitchFamily="34" charset="0"/>
              </a:rPr>
              <a:t>PA1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40DD698-B435-4EA7-F570-BB6451EA40B4}"/>
              </a:ext>
            </a:extLst>
          </p:cNvPr>
          <p:cNvSpPr/>
          <p:nvPr/>
        </p:nvSpPr>
        <p:spPr>
          <a:xfrm>
            <a:off x="508000" y="1600200"/>
            <a:ext cx="381000" cy="381000"/>
          </a:xfrm>
          <a:prstGeom prst="ellipse">
            <a:avLst/>
          </a:prstGeom>
          <a:solidFill>
            <a:srgbClr val="2E7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Forma 6">
            <a:extLst>
              <a:ext uri="{FF2B5EF4-FFF2-40B4-BE49-F238E27FC236}">
                <a16:creationId xmlns:a16="http://schemas.microsoft.com/office/drawing/2014/main" id="{A94BE992-767E-A09D-1E1C-BB984D165110}"/>
              </a:ext>
            </a:extLst>
          </p:cNvPr>
          <p:cNvSpPr/>
          <p:nvPr/>
        </p:nvSpPr>
        <p:spPr>
          <a:xfrm>
            <a:off x="607060" y="1699260"/>
            <a:ext cx="182880" cy="182880"/>
          </a:xfrm>
          <a:prstGeom prst="gear6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9B31ECB-96B6-0565-BDE6-6019225F9A1B}"/>
              </a:ext>
            </a:extLst>
          </p:cNvPr>
          <p:cNvSpPr txBox="1"/>
          <p:nvPr/>
        </p:nvSpPr>
        <p:spPr>
          <a:xfrm>
            <a:off x="1016000" y="16129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2E7A5E"/>
                </a:solidFill>
                <a:latin typeface="Calibri" panose="020F0502020204030204" pitchFamily="34" charset="0"/>
              </a:rPr>
              <a:t>Mecánico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5BC6175-2073-076D-B7CE-8B8A743C3691}"/>
              </a:ext>
            </a:extLst>
          </p:cNvPr>
          <p:cNvSpPr txBox="1"/>
          <p:nvPr/>
        </p:nvSpPr>
        <p:spPr>
          <a:xfrm>
            <a:off x="1016000" y="1828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50">
                <a:solidFill>
                  <a:srgbClr val="6B7280"/>
                </a:solidFill>
                <a:latin typeface="Calibri" panose="020F0502020204030204" pitchFamily="34" charset="0"/>
              </a:rPr>
              <a:t>50.8 h de 126.0 h  ·  40.3% del delay mecánico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197B18FC-1DC4-E811-AF66-42BBF40D94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8952608"/>
              </p:ext>
            </p:extLst>
          </p:nvPr>
        </p:nvGraphicFramePr>
        <p:xfrm>
          <a:off x="431800" y="2082800"/>
          <a:ext cx="3632200" cy="398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Elipse 10">
            <a:extLst>
              <a:ext uri="{FF2B5EF4-FFF2-40B4-BE49-F238E27FC236}">
                <a16:creationId xmlns:a16="http://schemas.microsoft.com/office/drawing/2014/main" id="{BBE4E85E-6D7C-0377-CE01-F05D817B67CD}"/>
              </a:ext>
            </a:extLst>
          </p:cNvPr>
          <p:cNvSpPr/>
          <p:nvPr/>
        </p:nvSpPr>
        <p:spPr>
          <a:xfrm>
            <a:off x="4445000" y="1600200"/>
            <a:ext cx="381000" cy="381000"/>
          </a:xfrm>
          <a:prstGeom prst="ellipse">
            <a:avLst/>
          </a:prstGeom>
          <a:solidFill>
            <a:srgbClr val="6B3A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ayo 11">
            <a:extLst>
              <a:ext uri="{FF2B5EF4-FFF2-40B4-BE49-F238E27FC236}">
                <a16:creationId xmlns:a16="http://schemas.microsoft.com/office/drawing/2014/main" id="{947253A5-6EA1-3E6F-E689-4EAEFA8E76C3}"/>
              </a:ext>
            </a:extLst>
          </p:cNvPr>
          <p:cNvSpPr/>
          <p:nvPr/>
        </p:nvSpPr>
        <p:spPr>
          <a:xfrm>
            <a:off x="4544060" y="1699260"/>
            <a:ext cx="182880" cy="182880"/>
          </a:xfrm>
          <a:prstGeom prst="lightningBol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ED1622B-7150-6BE6-D24C-812B7D978851}"/>
              </a:ext>
            </a:extLst>
          </p:cNvPr>
          <p:cNvSpPr txBox="1"/>
          <p:nvPr/>
        </p:nvSpPr>
        <p:spPr>
          <a:xfrm>
            <a:off x="4953000" y="16129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6B3A8B"/>
                </a:solidFill>
                <a:latin typeface="Calibri" panose="020F0502020204030204" pitchFamily="34" charset="0"/>
              </a:rPr>
              <a:t>Electrónico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114D2BE-DC11-0ACB-DC44-A6DFCC74F8A6}"/>
              </a:ext>
            </a:extLst>
          </p:cNvPr>
          <p:cNvSpPr txBox="1"/>
          <p:nvPr/>
        </p:nvSpPr>
        <p:spPr>
          <a:xfrm>
            <a:off x="4953000" y="1828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50">
                <a:solidFill>
                  <a:srgbClr val="6B7280"/>
                </a:solidFill>
                <a:latin typeface="Calibri" panose="020F0502020204030204" pitchFamily="34" charset="0"/>
              </a:rPr>
              <a:t>72.6 h de 216.5 h  ·  33.5% del delay electrónico</a:t>
            </a:r>
          </a:p>
        </p:txBody>
      </p: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95531623-ED67-3BD4-10CB-34083702BC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837500"/>
              </p:ext>
            </p:extLst>
          </p:nvPr>
        </p:nvGraphicFramePr>
        <p:xfrm>
          <a:off x="4368800" y="2082800"/>
          <a:ext cx="3632200" cy="398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Elipse 15">
            <a:extLst>
              <a:ext uri="{FF2B5EF4-FFF2-40B4-BE49-F238E27FC236}">
                <a16:creationId xmlns:a16="http://schemas.microsoft.com/office/drawing/2014/main" id="{2DC89A33-77AD-19AB-E571-4B0E7AE62826}"/>
              </a:ext>
            </a:extLst>
          </p:cNvPr>
          <p:cNvSpPr/>
          <p:nvPr/>
        </p:nvSpPr>
        <p:spPr>
          <a:xfrm>
            <a:off x="8382000" y="1600200"/>
            <a:ext cx="381000" cy="381000"/>
          </a:xfrm>
          <a:prstGeom prst="ellipse">
            <a:avLst/>
          </a:prstGeom>
          <a:solidFill>
            <a:srgbClr val="2E7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Forma 16">
            <a:extLst>
              <a:ext uri="{FF2B5EF4-FFF2-40B4-BE49-F238E27FC236}">
                <a16:creationId xmlns:a16="http://schemas.microsoft.com/office/drawing/2014/main" id="{2EF9BB77-892B-BB73-595B-D17DBA255DE6}"/>
              </a:ext>
            </a:extLst>
          </p:cNvPr>
          <p:cNvSpPr/>
          <p:nvPr/>
        </p:nvSpPr>
        <p:spPr>
          <a:xfrm>
            <a:off x="8481060" y="1699260"/>
            <a:ext cx="182880" cy="182880"/>
          </a:xfrm>
          <a:prstGeom prst="gear6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04ADD7A-3D5E-E613-D5F0-895EE9BDCB68}"/>
              </a:ext>
            </a:extLst>
          </p:cNvPr>
          <p:cNvSpPr txBox="1"/>
          <p:nvPr/>
        </p:nvSpPr>
        <p:spPr>
          <a:xfrm>
            <a:off x="8890000" y="16129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2E7A5E"/>
                </a:solidFill>
                <a:latin typeface="Calibri" panose="020F0502020204030204" pitchFamily="34" charset="0"/>
              </a:rPr>
              <a:t>Mecánico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18861C0-8935-C49F-72C2-0C8DA612E7F0}"/>
              </a:ext>
            </a:extLst>
          </p:cNvPr>
          <p:cNvSpPr txBox="1"/>
          <p:nvPr/>
        </p:nvSpPr>
        <p:spPr>
          <a:xfrm>
            <a:off x="8890000" y="1828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50">
                <a:solidFill>
                  <a:srgbClr val="6B7280"/>
                </a:solidFill>
                <a:latin typeface="Calibri" panose="020F0502020204030204" pitchFamily="34" charset="0"/>
              </a:rPr>
              <a:t>38.7 h de 64.3 h  ·  60.3% del delay mecánico</a:t>
            </a:r>
          </a:p>
        </p:txBody>
      </p:sp>
      <p:graphicFrame>
        <p:nvGraphicFramePr>
          <p:cNvPr id="20" name="Gráfico 19">
            <a:extLst>
              <a:ext uri="{FF2B5EF4-FFF2-40B4-BE49-F238E27FC236}">
                <a16:creationId xmlns:a16="http://schemas.microsoft.com/office/drawing/2014/main" id="{06130889-1DA3-571A-5F21-B69ED02567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1400353"/>
              </p:ext>
            </p:extLst>
          </p:nvPr>
        </p:nvGraphicFramePr>
        <p:xfrm>
          <a:off x="8305800" y="2082800"/>
          <a:ext cx="3378200" cy="398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C4584052-5CC9-6162-0AA7-66E829D85F70}"/>
              </a:ext>
            </a:extLst>
          </p:cNvPr>
          <p:cNvSpPr txBox="1"/>
          <p:nvPr/>
        </p:nvSpPr>
        <p:spPr>
          <a:xfrm>
            <a:off x="508000" y="62484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i="1">
                <a:solidFill>
                  <a:srgbClr val="6B7280"/>
                </a:solidFill>
                <a:latin typeface="Calibri" panose="020F0502020204030204" pitchFamily="34" charset="0"/>
              </a:rPr>
              <a:t>Horas de delay por módulo asignado. PA1 electrónico no se incluye en el análisis.</a:t>
            </a:r>
            <a:endParaRPr lang="es-PE" sz="900" i="1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7BD6003-2505-4FF0-B3B2-827C6EEC9033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985F632-61DF-264F-81F8-A378E683B62D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69630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68835C2-7184-BA7A-BD47-F57C450E18D6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FALLAS POR MÓDULO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62F2DA3-6063-D0BD-EF0D-1DB823DEF850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600" b="1">
                <a:solidFill>
                  <a:srgbClr val="1F2E4D"/>
                </a:solidFill>
                <a:latin typeface="Calibri" panose="020F0502020204030204" pitchFamily="34" charset="0"/>
              </a:rPr>
              <a:t>El desgaste domina en mecánico y la regulación en electrónico</a:t>
            </a:r>
            <a:endParaRPr lang="es-PE" sz="26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8E988EA-55DD-07F6-F3E1-3DEF2699BBE8}"/>
              </a:ext>
            </a:extLst>
          </p:cNvPr>
          <p:cNvSpPr/>
          <p:nvPr/>
        </p:nvSpPr>
        <p:spPr>
          <a:xfrm>
            <a:off x="508000" y="1371600"/>
            <a:ext cx="381000" cy="381000"/>
          </a:xfrm>
          <a:prstGeom prst="ellipse">
            <a:avLst/>
          </a:prstGeom>
          <a:solidFill>
            <a:srgbClr val="2E7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Forma 4">
            <a:extLst>
              <a:ext uri="{FF2B5EF4-FFF2-40B4-BE49-F238E27FC236}">
                <a16:creationId xmlns:a16="http://schemas.microsoft.com/office/drawing/2014/main" id="{5D246E45-83B3-24E7-9582-313F91F3E926}"/>
              </a:ext>
            </a:extLst>
          </p:cNvPr>
          <p:cNvSpPr/>
          <p:nvPr/>
        </p:nvSpPr>
        <p:spPr>
          <a:xfrm>
            <a:off x="607060" y="1470660"/>
            <a:ext cx="182880" cy="182880"/>
          </a:xfrm>
          <a:prstGeom prst="gear6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739E7F3-5ADE-8FD0-F27A-A2328F7FBFCC}"/>
              </a:ext>
            </a:extLst>
          </p:cNvPr>
          <p:cNvSpPr txBox="1"/>
          <p:nvPr/>
        </p:nvSpPr>
        <p:spPr>
          <a:xfrm>
            <a:off x="1016000" y="1384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2E7A5E"/>
                </a:solidFill>
                <a:latin typeface="Calibri" panose="020F0502020204030204" pitchFamily="34" charset="0"/>
              </a:rPr>
              <a:t>Mecánico · 639 h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A66BF8E-FC7E-2B09-435E-BEBEAE89CE2A}"/>
              </a:ext>
            </a:extLst>
          </p:cNvPr>
          <p:cNvSpPr txBox="1"/>
          <p:nvPr/>
        </p:nvSpPr>
        <p:spPr>
          <a:xfrm>
            <a:off x="1016000" y="16002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050">
                <a:solidFill>
                  <a:srgbClr val="6B7280"/>
                </a:solidFill>
                <a:latin typeface="Calibri" panose="020F0502020204030204" pitchFamily="34" charset="0"/>
              </a:rPr>
              <a:t>Desgaste (fajas, rodamientos y corte) = 50% del delay mecánico</a:t>
            </a:r>
            <a:endParaRPr lang="es-PE" sz="105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C2246F36-717D-B5CE-6DE3-08210D7B0F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7363909"/>
              </p:ext>
            </p:extLst>
          </p:nvPr>
        </p:nvGraphicFramePr>
        <p:xfrm>
          <a:off x="431800" y="1854200"/>
          <a:ext cx="5410200" cy="424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Elipse 8">
            <a:extLst>
              <a:ext uri="{FF2B5EF4-FFF2-40B4-BE49-F238E27FC236}">
                <a16:creationId xmlns:a16="http://schemas.microsoft.com/office/drawing/2014/main" id="{2A3FE22C-51C9-C0BC-1A92-D5356E883819}"/>
              </a:ext>
            </a:extLst>
          </p:cNvPr>
          <p:cNvSpPr/>
          <p:nvPr/>
        </p:nvSpPr>
        <p:spPr>
          <a:xfrm>
            <a:off x="6350000" y="1371600"/>
            <a:ext cx="381000" cy="381000"/>
          </a:xfrm>
          <a:prstGeom prst="ellipse">
            <a:avLst/>
          </a:prstGeom>
          <a:solidFill>
            <a:srgbClr val="6B3A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ayo 9">
            <a:extLst>
              <a:ext uri="{FF2B5EF4-FFF2-40B4-BE49-F238E27FC236}">
                <a16:creationId xmlns:a16="http://schemas.microsoft.com/office/drawing/2014/main" id="{044ED202-68CD-8A2E-9D2A-F7738036BB57}"/>
              </a:ext>
            </a:extLst>
          </p:cNvPr>
          <p:cNvSpPr/>
          <p:nvPr/>
        </p:nvSpPr>
        <p:spPr>
          <a:xfrm>
            <a:off x="6449060" y="1470660"/>
            <a:ext cx="182880" cy="182880"/>
          </a:xfrm>
          <a:prstGeom prst="lightningBol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782A5F9-CE2F-E3D0-E569-6B9D66C3405B}"/>
              </a:ext>
            </a:extLst>
          </p:cNvPr>
          <p:cNvSpPr txBox="1"/>
          <p:nvPr/>
        </p:nvSpPr>
        <p:spPr>
          <a:xfrm>
            <a:off x="6858000" y="1384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400" b="1">
                <a:solidFill>
                  <a:srgbClr val="6B3A8B"/>
                </a:solidFill>
                <a:latin typeface="Calibri" panose="020F0502020204030204" pitchFamily="34" charset="0"/>
              </a:rPr>
              <a:t>Electrónico (incluye adhesivos) · 1,821 h</a:t>
            </a:r>
            <a:endParaRPr lang="es-PE" sz="1400" b="1">
              <a:solidFill>
                <a:srgbClr val="6B3A8B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87F93D7-6768-9B6E-8E0E-802F6A8E5802}"/>
              </a:ext>
            </a:extLst>
          </p:cNvPr>
          <p:cNvSpPr txBox="1"/>
          <p:nvPr/>
        </p:nvSpPr>
        <p:spPr>
          <a:xfrm>
            <a:off x="6858000" y="16002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050">
                <a:solidFill>
                  <a:srgbClr val="6B7280"/>
                </a:solidFill>
                <a:latin typeface="Calibri" panose="020F0502020204030204" pitchFamily="34" charset="0"/>
              </a:rPr>
              <a:t>Regulación y ajustes electrónicos = 55% del delay electrónico</a:t>
            </a:r>
            <a:endParaRPr lang="es-PE" sz="105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7A4B3D33-0FB5-E0A1-83C5-8CD66D2F52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8356227"/>
              </p:ext>
            </p:extLst>
          </p:nvPr>
        </p:nvGraphicFramePr>
        <p:xfrm>
          <a:off x="6273800" y="1854200"/>
          <a:ext cx="5410200" cy="424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6805C90C-567A-FF0D-C73F-1D8F28B36B2D}"/>
              </a:ext>
            </a:extLst>
          </p:cNvPr>
          <p:cNvSpPr txBox="1"/>
          <p:nvPr/>
        </p:nvSpPr>
        <p:spPr>
          <a:xfrm>
            <a:off x="508000" y="62484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i="1">
                <a:solidFill>
                  <a:srgbClr val="6B7280"/>
                </a:solidFill>
                <a:latin typeface="Calibri" panose="020F0502020204030204" pitchFamily="34" charset="0"/>
              </a:rPr>
              <a:t>Se agruparon 270 descripciones de "Detalle (L4)" en 18 tipos de falla. Horas de delay de los módulos priorizados (Delays 80%); los módulos de adhesivos se cuentan en electrónico.</a:t>
            </a:r>
            <a:endParaRPr lang="es-PE" sz="900" i="1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7DC9D43-B1BE-336D-226F-A84FF10EAD42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F891EF8-3097-F544-CFD2-60808F684A6F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805372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51EFC70-1A59-3A4C-CD12-ECDBED3033C8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FALLAS POR MÓDULO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C79E872-3FE6-F0F7-16EB-03418CAFEA25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2600" b="1">
                <a:solidFill>
                  <a:srgbClr val="1F2E4D"/>
                </a:solidFill>
                <a:latin typeface="Calibri" panose="020F0502020204030204" pitchFamily="34" charset="0"/>
              </a:rPr>
              <a:t>Módulos agrupados por tipo de falla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48552A3-EFF5-3387-025D-A6B5BBCA9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782302"/>
              </p:ext>
            </p:extLst>
          </p:nvPr>
        </p:nvGraphicFramePr>
        <p:xfrm>
          <a:off x="508000" y="1320800"/>
          <a:ext cx="111760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08259158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762961798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0027998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46446597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773088871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3530456791"/>
                    </a:ext>
                  </a:extLst>
                </a:gridCol>
              </a:tblGrid>
              <a:tr h="357909"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Especialidad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1F2E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Tipo de falla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1F2E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Horas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1F2E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1F2E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Módulos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1F2E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Dónde se concentra (módulo y grupo)</a:t>
                      </a:r>
                      <a:endParaRPr lang="es-PE" sz="11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1F2E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103520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2E7A5E"/>
                          </a:solidFill>
                          <a:latin typeface="Calibri" panose="020F0502020204030204" pitchFamily="34" charset="0"/>
                        </a:rPr>
                        <a:t>Mecánico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050" b="1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Reparación y reemplazo de componentes</a:t>
                      </a:r>
                      <a:endParaRPr lang="es-PE" sz="1050" b="1">
                        <a:solidFill>
                          <a:srgbClr val="1F2E4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182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28%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PCM (PF5) 24 h  ·  CTN (PF5) 16 h  ·  FNCT (PADS) 14 h</a:t>
                      </a:r>
                      <a:endParaRPr lang="es-PE" sz="1050" b="0">
                        <a:solidFill>
                          <a:srgbClr val="1F2E4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076853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2E7A5E"/>
                          </a:solidFill>
                          <a:latin typeface="Calibri" panose="020F0502020204030204" pitchFamily="34" charset="0"/>
                        </a:rPr>
                        <a:t>Mecánico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Rodamientos, rodillos y transmisión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115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18%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LEA (BCM) 17 h  ·  STK (BCM) 15 h  ·  FCO (BCM) 13 h</a:t>
                      </a:r>
                      <a:endParaRPr lang="es-PE" sz="1050" b="0">
                        <a:solidFill>
                          <a:srgbClr val="1F2E4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128896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2E7A5E"/>
                          </a:solidFill>
                          <a:latin typeface="Calibri" panose="020F0502020204030204" pitchFamily="34" charset="0"/>
                        </a:rPr>
                        <a:t>Mecánico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Fajas y correas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109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FCO (BCM) 29 h  ·  SWA (BCM) 24 h  ·  PCO (BCM) 10 h</a:t>
                      </a:r>
                      <a:endParaRPr lang="es-PE" sz="1050" b="0">
                        <a:solidFill>
                          <a:srgbClr val="1F2E4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167596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2E7A5E"/>
                          </a:solidFill>
                          <a:latin typeface="Calibri" panose="020F0502020204030204" pitchFamily="34" charset="0"/>
                        </a:rPr>
                        <a:t>Mecánico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Corte (cuchillas e insertos)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LEA (BCM) 17 h  ·  SLA (BCM) 14 h  ·  PCO (BCM) 13 h</a:t>
                      </a:r>
                      <a:endParaRPr lang="es-PE" sz="1050" b="0">
                        <a:solidFill>
                          <a:srgbClr val="1F2E4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55989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2E7A5E"/>
                          </a:solidFill>
                          <a:latin typeface="Calibri" panose="020F0502020204030204" pitchFamily="34" charset="0"/>
                        </a:rPr>
                        <a:t>Mecánico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Placas, pockets y soportes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FLF (BCM) 14 h  ·  DBD (BCM) 11 h  ·  BG2 (BCM) 10 h</a:t>
                      </a:r>
                      <a:endParaRPr lang="es-PE" sz="1050" b="0">
                        <a:solidFill>
                          <a:srgbClr val="1F2E4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509689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6B3A8B"/>
                          </a:solidFill>
                          <a:latin typeface="Calibri" panose="020F0502020204030204" pitchFamily="34" charset="0"/>
                        </a:rPr>
                        <a:t>Electrónico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Regulación y ajustes electrónicos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1,009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55%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CS (BCM) 158 h  ·  BG1 (PADS) 65 h  ·  STK (BCM) 58 h</a:t>
                      </a:r>
                      <a:endParaRPr lang="es-PE" sz="1050" b="0">
                        <a:solidFill>
                          <a:srgbClr val="1F2E4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338229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6B3A8B"/>
                          </a:solidFill>
                          <a:latin typeface="Calibri" panose="020F0502020204030204" pitchFamily="34" charset="0"/>
                        </a:rPr>
                        <a:t>Electrónico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Servos y sincronización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180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SLCT (PADS) 26 h  ·  BG1 (PF5) 21 h  ·  CS (PADS) 21 h</a:t>
                      </a:r>
                      <a:endParaRPr lang="es-PE" sz="1050" b="0">
                        <a:solidFill>
                          <a:srgbClr val="1F2E4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932485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6B3A8B"/>
                          </a:solidFill>
                          <a:latin typeface="Calibri" panose="020F0502020204030204" pitchFamily="34" charset="0"/>
                        </a:rPr>
                        <a:t>Electrónico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Control, PLC y comunicación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SLA (BCM) 14 h  ·  BGR (PADS) 9 h  ·  SAM (BCM) 8 h</a:t>
                      </a:r>
                      <a:endParaRPr lang="es-PE" sz="1050" b="0">
                        <a:solidFill>
                          <a:srgbClr val="1F2E4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908274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6B3A8B"/>
                          </a:solidFill>
                          <a:latin typeface="Calibri" panose="020F0502020204030204" pitchFamily="34" charset="0"/>
                        </a:rPr>
                        <a:t>Electrónico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Neumática y vacío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CS (BCM) 12 h  ·  OCU (BCM) 8 h  ·  TLU (PADS) 6 h</a:t>
                      </a:r>
                      <a:endParaRPr lang="es-PE" sz="1050" b="0">
                        <a:solidFill>
                          <a:srgbClr val="1F2E4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238555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6B3A8B"/>
                          </a:solidFill>
                          <a:latin typeface="Calibri" panose="020F0502020204030204" pitchFamily="34" charset="0"/>
                        </a:rPr>
                        <a:t>Electrónico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050" b="1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Aplicación de adhesivo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>
                          <a:solidFill>
                            <a:srgbClr val="1F2E4D"/>
                          </a:solidFill>
                          <a:latin typeface="Calibri" panose="020F0502020204030204" pitchFamily="34" charset="0"/>
                        </a:rPr>
                        <a:t>Pad Integrity (BCM) 9 h  ·  Construction (trio) (BCM) 9 h  ·  Melter (BCM) 8 h</a:t>
                      </a:r>
                      <a:endParaRPr lang="es-PE" sz="1050" b="0">
                        <a:solidFill>
                          <a:srgbClr val="1F2E4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900" marR="88900" marT="50800" marB="50800" anchor="ctr">
                    <a:lnL w="6350" cmpd="sng">
                      <a:solidFill>
                        <a:srgbClr val="DDE2EA"/>
                      </a:solidFill>
                    </a:lnL>
                    <a:lnR w="6350" cmpd="sng">
                      <a:solidFill>
                        <a:srgbClr val="DDE2EA"/>
                      </a:solidFill>
                    </a:lnR>
                    <a:lnT w="6350" cmpd="sng">
                      <a:solidFill>
                        <a:srgbClr val="DDE2EA"/>
                      </a:solidFill>
                    </a:lnT>
                    <a:lnB w="6350" cmpd="sng">
                      <a:solidFill>
                        <a:srgbClr val="DDE2EA"/>
                      </a:solidFill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979410"/>
                  </a:ext>
                </a:extLst>
              </a:tr>
            </a:tbl>
          </a:graphicData>
        </a:graphic>
      </p:graphicFrame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C3679A4-B96C-56F3-754B-662DA6A76481}"/>
              </a:ext>
            </a:extLst>
          </p:cNvPr>
          <p:cNvSpPr/>
          <p:nvPr/>
        </p:nvSpPr>
        <p:spPr>
          <a:xfrm>
            <a:off x="508000" y="5435600"/>
            <a:ext cx="11176000" cy="711200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1C5A23-5D71-68A5-9961-84DCF31F97A0}"/>
              </a:ext>
            </a:extLst>
          </p:cNvPr>
          <p:cNvSpPr txBox="1"/>
          <p:nvPr/>
        </p:nvSpPr>
        <p:spPr>
          <a:xfrm>
            <a:off x="736600" y="5537200"/>
            <a:ext cx="1074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150">
                <a:solidFill>
                  <a:srgbClr val="7A2E14"/>
                </a:solidFill>
                <a:latin typeface="Calibri" panose="020F0502020204030204" pitchFamily="34" charset="0"/>
              </a:rPr>
              <a:t>Registro poco específico: el 55% del delay electrónico figura como regulación electrónica, el 28% del mecánico como reparación o reemplazo genérico y 154 h como "falla general / sin detalle". Registrar la falla con más detalle (L4) permitirá enfocar mejor los planes.</a:t>
            </a:r>
            <a:endParaRPr lang="es-PE" sz="1150">
              <a:solidFill>
                <a:srgbClr val="7A2E1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AB15A1B-3357-98D6-8E72-DCA031DBA88B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4BB6CCA-1CA6-FE74-4EF2-47E8FE5EFF96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66309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2B6740F-C1CC-7270-276A-2E19B294A8A4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EVALUACIÓN DE PLANES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ADFF7C1-4369-2DC0-E45C-7B88E5A3A789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600" b="1">
                <a:solidFill>
                  <a:srgbClr val="1F2E4D"/>
                </a:solidFill>
                <a:latin typeface="Calibri" panose="020F0502020204030204" pitchFamily="34" charset="0"/>
              </a:rPr>
              <a:t>2,093 planes preventivos evaluados en cuatro especialidades</a:t>
            </a:r>
            <a:endParaRPr lang="es-PE" sz="26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C35F2B59-264F-6E0C-0053-31597C1023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2432109"/>
              </p:ext>
            </p:extLst>
          </p:nvPr>
        </p:nvGraphicFramePr>
        <p:xfrm>
          <a:off x="508000" y="1397000"/>
          <a:ext cx="5080000" cy="469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9B7E44E0-C7FF-B149-A219-229BFF67E22F}"/>
              </a:ext>
            </a:extLst>
          </p:cNvPr>
          <p:cNvSpPr txBox="1"/>
          <p:nvPr/>
        </p:nvSpPr>
        <p:spPr>
          <a:xfrm>
            <a:off x="2095500" y="3175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PE" sz="2800" b="1">
                <a:solidFill>
                  <a:srgbClr val="1F2E4D"/>
                </a:solidFill>
                <a:latin typeface="Calibri" panose="020F0502020204030204" pitchFamily="34" charset="0"/>
              </a:rPr>
              <a:t>2,093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687F51A-AD41-8AC4-97F8-3DCAA539039C}"/>
              </a:ext>
            </a:extLst>
          </p:cNvPr>
          <p:cNvSpPr txBox="1"/>
          <p:nvPr/>
        </p:nvSpPr>
        <p:spPr>
          <a:xfrm>
            <a:off x="2095500" y="35814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PE" sz="1200">
                <a:solidFill>
                  <a:srgbClr val="6B7280"/>
                </a:solidFill>
                <a:latin typeface="Calibri" panose="020F0502020204030204" pitchFamily="34" charset="0"/>
              </a:rPr>
              <a:t>planes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0746FF3-4FE6-85E5-21EA-14124CDCF5C2}"/>
              </a:ext>
            </a:extLst>
          </p:cNvPr>
          <p:cNvSpPr/>
          <p:nvPr/>
        </p:nvSpPr>
        <p:spPr>
          <a:xfrm>
            <a:off x="6096000" y="1498600"/>
            <a:ext cx="2667000" cy="2032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F15C52D-2F4C-B9D9-E823-46937C3AAF5A}"/>
              </a:ext>
            </a:extLst>
          </p:cNvPr>
          <p:cNvSpPr txBox="1"/>
          <p:nvPr/>
        </p:nvSpPr>
        <p:spPr>
          <a:xfrm>
            <a:off x="6350000" y="17272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300" b="1">
                <a:solidFill>
                  <a:srgbClr val="6B7280"/>
                </a:solidFill>
                <a:latin typeface="Calibri" panose="020F0502020204030204" pitchFamily="34" charset="0"/>
              </a:rPr>
              <a:t>Dentro del 80%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E1C0871-487B-2041-4B44-274256F82510}"/>
              </a:ext>
            </a:extLst>
          </p:cNvPr>
          <p:cNvSpPr txBox="1"/>
          <p:nvPr/>
        </p:nvSpPr>
        <p:spPr>
          <a:xfrm>
            <a:off x="6350000" y="20574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3800" b="1">
                <a:solidFill>
                  <a:srgbClr val="1F2E4D"/>
                </a:solidFill>
                <a:latin typeface="Calibri" panose="020F0502020204030204" pitchFamily="34" charset="0"/>
              </a:rPr>
              <a:t>1,312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E8FD90E-2492-CF04-B370-D357C530BCDB}"/>
              </a:ext>
            </a:extLst>
          </p:cNvPr>
          <p:cNvSpPr txBox="1"/>
          <p:nvPr/>
        </p:nvSpPr>
        <p:spPr>
          <a:xfrm>
            <a:off x="6350000" y="2768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200">
                <a:solidFill>
                  <a:srgbClr val="374151"/>
                </a:solidFill>
                <a:latin typeface="Calibri" panose="020F0502020204030204" pitchFamily="34" charset="0"/>
              </a:rPr>
              <a:t>63% de los planes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8C0B0D6-646A-8069-C5F7-1525E41DA736}"/>
              </a:ext>
            </a:extLst>
          </p:cNvPr>
          <p:cNvSpPr/>
          <p:nvPr/>
        </p:nvSpPr>
        <p:spPr>
          <a:xfrm>
            <a:off x="8953500" y="1498600"/>
            <a:ext cx="2667000" cy="2032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9ECED0E-280B-86FC-DC1D-2ECDA60D6D93}"/>
              </a:ext>
            </a:extLst>
          </p:cNvPr>
          <p:cNvSpPr txBox="1"/>
          <p:nvPr/>
        </p:nvSpPr>
        <p:spPr>
          <a:xfrm>
            <a:off x="9207500" y="17272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300" b="1">
                <a:solidFill>
                  <a:srgbClr val="6B7280"/>
                </a:solidFill>
                <a:latin typeface="Calibri" panose="020F0502020204030204" pitchFamily="34" charset="0"/>
              </a:rPr>
              <a:t>Fuera del 80%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89C0AB5-326B-EA84-CC89-EC60AB2F7C87}"/>
              </a:ext>
            </a:extLst>
          </p:cNvPr>
          <p:cNvSpPr txBox="1"/>
          <p:nvPr/>
        </p:nvSpPr>
        <p:spPr>
          <a:xfrm>
            <a:off x="9207500" y="20574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3800" b="1">
                <a:solidFill>
                  <a:srgbClr val="8A96AB"/>
                </a:solidFill>
                <a:latin typeface="Calibri" panose="020F0502020204030204" pitchFamily="34" charset="0"/>
              </a:rPr>
              <a:t>781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C720B55-1F1E-E7E4-5977-AEDF5B4E531F}"/>
              </a:ext>
            </a:extLst>
          </p:cNvPr>
          <p:cNvSpPr txBox="1"/>
          <p:nvPr/>
        </p:nvSpPr>
        <p:spPr>
          <a:xfrm>
            <a:off x="9207500" y="2768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200">
                <a:solidFill>
                  <a:srgbClr val="374151"/>
                </a:solidFill>
                <a:latin typeface="Calibri" panose="020F0502020204030204" pitchFamily="34" charset="0"/>
              </a:rPr>
              <a:t>37% de los planes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C32DA18-8C8A-9E3A-78AE-01A218826E7B}"/>
              </a:ext>
            </a:extLst>
          </p:cNvPr>
          <p:cNvSpPr/>
          <p:nvPr/>
        </p:nvSpPr>
        <p:spPr>
          <a:xfrm>
            <a:off x="6096000" y="3733800"/>
            <a:ext cx="2667000" cy="2032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F64DBE0-4DF2-5163-186E-6FD64C230126}"/>
              </a:ext>
            </a:extLst>
          </p:cNvPr>
          <p:cNvSpPr txBox="1"/>
          <p:nvPr/>
        </p:nvSpPr>
        <p:spPr>
          <a:xfrm>
            <a:off x="6350000" y="39624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300" b="1">
                <a:solidFill>
                  <a:srgbClr val="6B7280"/>
                </a:solidFill>
                <a:latin typeface="Calibri" panose="020F0502020204030204" pitchFamily="34" charset="0"/>
              </a:rPr>
              <a:t>Inspección de ruta (IR)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66F3ED5-4C86-3461-FCDB-52B47B736B87}"/>
              </a:ext>
            </a:extLst>
          </p:cNvPr>
          <p:cNvSpPr txBox="1"/>
          <p:nvPr/>
        </p:nvSpPr>
        <p:spPr>
          <a:xfrm>
            <a:off x="6350000" y="4292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3800" b="1">
                <a:solidFill>
                  <a:srgbClr val="E4572E"/>
                </a:solidFill>
                <a:latin typeface="Calibri" panose="020F0502020204030204" pitchFamily="34" charset="0"/>
              </a:rPr>
              <a:t>724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F3CDA67-0F32-988F-3FEA-7A12D8F8B0FE}"/>
              </a:ext>
            </a:extLst>
          </p:cNvPr>
          <p:cNvSpPr txBox="1"/>
          <p:nvPr/>
        </p:nvSpPr>
        <p:spPr>
          <a:xfrm>
            <a:off x="6350000" y="50038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200">
                <a:solidFill>
                  <a:srgbClr val="374151"/>
                </a:solidFill>
                <a:latin typeface="Calibri" panose="020F0502020204030204" pitchFamily="34" charset="0"/>
              </a:rPr>
              <a:t>35% de los planes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D05DC5BD-09BD-71F5-E1ED-DB1C6A93DB84}"/>
              </a:ext>
            </a:extLst>
          </p:cNvPr>
          <p:cNvSpPr/>
          <p:nvPr/>
        </p:nvSpPr>
        <p:spPr>
          <a:xfrm>
            <a:off x="8953500" y="3733800"/>
            <a:ext cx="2667000" cy="2032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317A574-6FE2-2A8A-6E9E-3DBDCCD8C995}"/>
              </a:ext>
            </a:extLst>
          </p:cNvPr>
          <p:cNvSpPr txBox="1"/>
          <p:nvPr/>
        </p:nvSpPr>
        <p:spPr>
          <a:xfrm>
            <a:off x="9207500" y="39624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300" b="1">
                <a:solidFill>
                  <a:srgbClr val="6B7280"/>
                </a:solidFill>
                <a:latin typeface="Calibri" panose="020F0502020204030204" pitchFamily="34" charset="0"/>
              </a:rPr>
              <a:t>Mantenimiento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E2C4BBE-1B72-EE8D-3646-BDDE5F000AA9}"/>
              </a:ext>
            </a:extLst>
          </p:cNvPr>
          <p:cNvSpPr txBox="1"/>
          <p:nvPr/>
        </p:nvSpPr>
        <p:spPr>
          <a:xfrm>
            <a:off x="9207500" y="4292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3800" b="1">
                <a:solidFill>
                  <a:srgbClr val="1F2E4D"/>
                </a:solidFill>
                <a:latin typeface="Calibri" panose="020F0502020204030204" pitchFamily="34" charset="0"/>
              </a:rPr>
              <a:t>1,369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232A77C-D86C-E112-93A1-9D48C9B390B4}"/>
              </a:ext>
            </a:extLst>
          </p:cNvPr>
          <p:cNvSpPr txBox="1"/>
          <p:nvPr/>
        </p:nvSpPr>
        <p:spPr>
          <a:xfrm>
            <a:off x="9207500" y="50038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200">
                <a:solidFill>
                  <a:srgbClr val="374151"/>
                </a:solidFill>
                <a:latin typeface="Calibri" panose="020F0502020204030204" pitchFamily="34" charset="0"/>
              </a:rPr>
              <a:t>65% de los planes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93D34A2-883F-C077-4E73-DD682A7C2AA7}"/>
              </a:ext>
            </a:extLst>
          </p:cNvPr>
          <p:cNvSpPr txBox="1"/>
          <p:nvPr/>
        </p:nvSpPr>
        <p:spPr>
          <a:xfrm>
            <a:off x="508000" y="62484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 i="1">
                <a:solidFill>
                  <a:srgbClr val="6B7280"/>
                </a:solidFill>
                <a:latin typeface="Calibri" panose="020F0502020204030204" pitchFamily="34" charset="0"/>
              </a:rPr>
              <a:t>Electrónico incluye 303 planes de instrumentación (SC_INS). Adhesivos: 55 planes SC_ADHE, dentro del 80%.</a:t>
            </a:r>
            <a:endParaRPr lang="es-PE" sz="900" i="1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6A60661-CAD2-AB0F-9D0C-E6F8F190ECF0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E853F53-8B90-3A98-6230-7D9F35D2713F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286796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C2F62CF-3875-547D-242A-9B042AE7A161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EVALUACIÓN DE PLANES  ·  DECISIONES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85F2D2-C1E9-683A-E853-8143D59A7A40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600" b="1">
                <a:solidFill>
                  <a:srgbClr val="1F2E4D"/>
                </a:solidFill>
                <a:latin typeface="Calibri" panose="020F0502020204030204" pitchFamily="34" charset="0"/>
              </a:rPr>
              <a:t>45% de los planes se mantiene; se proponen 281 altas y 216 bajas</a:t>
            </a:r>
            <a:endParaRPr lang="es-PE" sz="26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09DAC71-5B3E-C423-406E-9599361FEAEA}"/>
              </a:ext>
            </a:extLst>
          </p:cNvPr>
          <p:cNvSpPr/>
          <p:nvPr/>
        </p:nvSpPr>
        <p:spPr>
          <a:xfrm>
            <a:off x="508000" y="1371600"/>
            <a:ext cx="2108200" cy="1168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963CDB-8632-C1BE-49FA-39D9FC35DDF3}"/>
              </a:ext>
            </a:extLst>
          </p:cNvPr>
          <p:cNvSpPr txBox="1"/>
          <p:nvPr/>
        </p:nvSpPr>
        <p:spPr>
          <a:xfrm>
            <a:off x="711200" y="14986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3000" b="1">
                <a:solidFill>
                  <a:srgbClr val="5B7DB1"/>
                </a:solidFill>
                <a:latin typeface="Calibri" panose="020F0502020204030204" pitchFamily="34" charset="0"/>
              </a:rPr>
              <a:t>952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780B90-3E5D-7442-07D5-7EDD3B66B03A}"/>
              </a:ext>
            </a:extLst>
          </p:cNvPr>
          <p:cNvSpPr txBox="1"/>
          <p:nvPr/>
        </p:nvSpPr>
        <p:spPr>
          <a:xfrm>
            <a:off x="711200" y="20066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300" b="1">
                <a:solidFill>
                  <a:srgbClr val="1F2E4D"/>
                </a:solidFill>
                <a:latin typeface="Calibri" panose="020F0502020204030204" pitchFamily="34" charset="0"/>
              </a:rPr>
              <a:t>Se mantienen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80FAED-8B33-C6EB-2358-DB2921AA686A}"/>
              </a:ext>
            </a:extLst>
          </p:cNvPr>
          <p:cNvSpPr txBox="1"/>
          <p:nvPr/>
        </p:nvSpPr>
        <p:spPr>
          <a:xfrm>
            <a:off x="711200" y="22352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>
                <a:solidFill>
                  <a:srgbClr val="6B7280"/>
                </a:solidFill>
                <a:latin typeface="Calibri" panose="020F0502020204030204" pitchFamily="34" charset="0"/>
              </a:rPr>
              <a:t>45% del total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20B3E82-9A7D-6736-9B21-232EF9EC4CF8}"/>
              </a:ext>
            </a:extLst>
          </p:cNvPr>
          <p:cNvSpPr/>
          <p:nvPr/>
        </p:nvSpPr>
        <p:spPr>
          <a:xfrm>
            <a:off x="2768600" y="1371600"/>
            <a:ext cx="2108200" cy="1168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B259F1D-14D4-C442-D36F-04DAED01B8E9}"/>
              </a:ext>
            </a:extLst>
          </p:cNvPr>
          <p:cNvSpPr txBox="1"/>
          <p:nvPr/>
        </p:nvSpPr>
        <p:spPr>
          <a:xfrm>
            <a:off x="2971800" y="14986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3000" b="1">
                <a:solidFill>
                  <a:srgbClr val="E3A21A"/>
                </a:solidFill>
                <a:latin typeface="Calibri" panose="020F0502020204030204" pitchFamily="34" charset="0"/>
              </a:rPr>
              <a:t>130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548BF99-221E-BDE1-F2CD-C0020B6BFD9F}"/>
              </a:ext>
            </a:extLst>
          </p:cNvPr>
          <p:cNvSpPr txBox="1"/>
          <p:nvPr/>
        </p:nvSpPr>
        <p:spPr>
          <a:xfrm>
            <a:off x="2971800" y="20066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300" b="1">
                <a:solidFill>
                  <a:srgbClr val="1F2E4D"/>
                </a:solidFill>
                <a:latin typeface="Calibri" panose="020F0502020204030204" pitchFamily="34" charset="0"/>
              </a:rPr>
              <a:t>Se modifican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8A1C991-EB07-3B02-2BA2-A5AD1D5BFE54}"/>
              </a:ext>
            </a:extLst>
          </p:cNvPr>
          <p:cNvSpPr txBox="1"/>
          <p:nvPr/>
        </p:nvSpPr>
        <p:spPr>
          <a:xfrm>
            <a:off x="2971800" y="22352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>
                <a:solidFill>
                  <a:srgbClr val="6B7280"/>
                </a:solidFill>
                <a:latin typeface="Calibri" panose="020F0502020204030204" pitchFamily="34" charset="0"/>
              </a:rPr>
              <a:t>6% del total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C90244D-4ECB-6F23-E086-F96AFF4F033F}"/>
              </a:ext>
            </a:extLst>
          </p:cNvPr>
          <p:cNvSpPr/>
          <p:nvPr/>
        </p:nvSpPr>
        <p:spPr>
          <a:xfrm>
            <a:off x="5029200" y="1371600"/>
            <a:ext cx="2108200" cy="1168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5EBEFCA-B164-0E6F-20CE-7A8748223172}"/>
              </a:ext>
            </a:extLst>
          </p:cNvPr>
          <p:cNvSpPr txBox="1"/>
          <p:nvPr/>
        </p:nvSpPr>
        <p:spPr>
          <a:xfrm>
            <a:off x="5232400" y="14986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3000" b="1">
                <a:solidFill>
                  <a:srgbClr val="C0392B"/>
                </a:solidFill>
                <a:latin typeface="Calibri" panose="020F0502020204030204" pitchFamily="34" charset="0"/>
              </a:rPr>
              <a:t>216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C20E496-2073-9D99-3F38-598E7EBEF5FA}"/>
              </a:ext>
            </a:extLst>
          </p:cNvPr>
          <p:cNvSpPr txBox="1"/>
          <p:nvPr/>
        </p:nvSpPr>
        <p:spPr>
          <a:xfrm>
            <a:off x="5232400" y="20066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300" b="1">
                <a:solidFill>
                  <a:srgbClr val="1F2E4D"/>
                </a:solidFill>
                <a:latin typeface="Calibri" panose="020F0502020204030204" pitchFamily="34" charset="0"/>
              </a:rPr>
              <a:t>Se eliminan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E10024C-F4AB-24F6-8E98-E599A2707B16}"/>
              </a:ext>
            </a:extLst>
          </p:cNvPr>
          <p:cNvSpPr txBox="1"/>
          <p:nvPr/>
        </p:nvSpPr>
        <p:spPr>
          <a:xfrm>
            <a:off x="5232400" y="22352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>
                <a:solidFill>
                  <a:srgbClr val="6B7280"/>
                </a:solidFill>
                <a:latin typeface="Calibri" panose="020F0502020204030204" pitchFamily="34" charset="0"/>
              </a:rPr>
              <a:t>10% del total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F2EC8E0A-DBF5-79F7-D575-DAFF05D77403}"/>
              </a:ext>
            </a:extLst>
          </p:cNvPr>
          <p:cNvSpPr/>
          <p:nvPr/>
        </p:nvSpPr>
        <p:spPr>
          <a:xfrm>
            <a:off x="7289800" y="1371600"/>
            <a:ext cx="2108200" cy="1168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E210B96-28AA-24BA-EE50-8CE84E4110A0}"/>
              </a:ext>
            </a:extLst>
          </p:cNvPr>
          <p:cNvSpPr txBox="1"/>
          <p:nvPr/>
        </p:nvSpPr>
        <p:spPr>
          <a:xfrm>
            <a:off x="7493000" y="14986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3000" b="1">
                <a:solidFill>
                  <a:srgbClr val="2E9E5B"/>
                </a:solidFill>
                <a:latin typeface="Calibri" panose="020F0502020204030204" pitchFamily="34" charset="0"/>
              </a:rPr>
              <a:t>281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36F5A56-44F1-C807-A3C9-011C007326D5}"/>
              </a:ext>
            </a:extLst>
          </p:cNvPr>
          <p:cNvSpPr txBox="1"/>
          <p:nvPr/>
        </p:nvSpPr>
        <p:spPr>
          <a:xfrm>
            <a:off x="7493000" y="20066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300" b="1">
                <a:solidFill>
                  <a:srgbClr val="1F2E4D"/>
                </a:solidFill>
                <a:latin typeface="Calibri" panose="020F0502020204030204" pitchFamily="34" charset="0"/>
              </a:rPr>
              <a:t>Se agregan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0499612-8471-C0BD-3EB0-CA32DCED4C77}"/>
              </a:ext>
            </a:extLst>
          </p:cNvPr>
          <p:cNvSpPr txBox="1"/>
          <p:nvPr/>
        </p:nvSpPr>
        <p:spPr>
          <a:xfrm>
            <a:off x="7493000" y="22352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>
                <a:solidFill>
                  <a:srgbClr val="6B7280"/>
                </a:solidFill>
                <a:latin typeface="Calibri" panose="020F0502020204030204" pitchFamily="34" charset="0"/>
              </a:rPr>
              <a:t>13% del total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9F20D00E-6019-DB01-8B64-239D3B12C90E}"/>
              </a:ext>
            </a:extLst>
          </p:cNvPr>
          <p:cNvSpPr/>
          <p:nvPr/>
        </p:nvSpPr>
        <p:spPr>
          <a:xfrm>
            <a:off x="9550400" y="1371600"/>
            <a:ext cx="2108200" cy="1168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54115AB-F6BA-15C5-BF18-221B76023936}"/>
              </a:ext>
            </a:extLst>
          </p:cNvPr>
          <p:cNvSpPr txBox="1"/>
          <p:nvPr/>
        </p:nvSpPr>
        <p:spPr>
          <a:xfrm>
            <a:off x="9753600" y="14986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3000" b="1">
                <a:solidFill>
                  <a:srgbClr val="8A93A3"/>
                </a:solidFill>
                <a:latin typeface="Calibri" panose="020F0502020204030204" pitchFamily="34" charset="0"/>
              </a:rPr>
              <a:t>514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124F79A-5B7A-2347-E204-DD174135F445}"/>
              </a:ext>
            </a:extLst>
          </p:cNvPr>
          <p:cNvSpPr txBox="1"/>
          <p:nvPr/>
        </p:nvSpPr>
        <p:spPr>
          <a:xfrm>
            <a:off x="9753600" y="20066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300" b="1">
                <a:solidFill>
                  <a:srgbClr val="1F2E4D"/>
                </a:solidFill>
                <a:latin typeface="Calibri" panose="020F0502020204030204" pitchFamily="34" charset="0"/>
              </a:rPr>
              <a:t>Sin decisión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250B9C1-6FFC-3AA7-9996-7F743F12658E}"/>
              </a:ext>
            </a:extLst>
          </p:cNvPr>
          <p:cNvSpPr txBox="1"/>
          <p:nvPr/>
        </p:nvSpPr>
        <p:spPr>
          <a:xfrm>
            <a:off x="9753600" y="22352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>
                <a:solidFill>
                  <a:srgbClr val="6B7280"/>
                </a:solidFill>
                <a:latin typeface="Calibri" panose="020F0502020204030204" pitchFamily="34" charset="0"/>
              </a:rPr>
              <a:t>25% del total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AD1FCF7-4356-4C98-BAAA-6E749C247285}"/>
              </a:ext>
            </a:extLst>
          </p:cNvPr>
          <p:cNvSpPr txBox="1"/>
          <p:nvPr/>
        </p:nvSpPr>
        <p:spPr>
          <a:xfrm>
            <a:off x="508000" y="27686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1F2E4D"/>
                </a:solidFill>
                <a:latin typeface="Calibri" panose="020F0502020204030204" pitchFamily="34" charset="0"/>
              </a:rPr>
              <a:t>Decisión por especialidad (planes)</a:t>
            </a:r>
          </a:p>
        </p:txBody>
      </p:sp>
      <p:graphicFrame>
        <p:nvGraphicFramePr>
          <p:cNvPr id="25" name="Gráfico 24">
            <a:extLst>
              <a:ext uri="{FF2B5EF4-FFF2-40B4-BE49-F238E27FC236}">
                <a16:creationId xmlns:a16="http://schemas.microsoft.com/office/drawing/2014/main" id="{0391AA95-781A-3D71-0127-F7EA97B7BF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3198004"/>
              </p:ext>
            </p:extLst>
          </p:nvPr>
        </p:nvGraphicFramePr>
        <p:xfrm>
          <a:off x="431800" y="3048000"/>
          <a:ext cx="7366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42C67FBD-1E32-1A84-BDB6-399EC7531E78}"/>
              </a:ext>
            </a:extLst>
          </p:cNvPr>
          <p:cNvSpPr/>
          <p:nvPr/>
        </p:nvSpPr>
        <p:spPr>
          <a:xfrm>
            <a:off x="8128000" y="2768600"/>
            <a:ext cx="3556000" cy="3327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719E7D1-3B69-D24A-ACD5-77A15EDE3728}"/>
              </a:ext>
            </a:extLst>
          </p:cNvPr>
          <p:cNvSpPr txBox="1"/>
          <p:nvPr/>
        </p:nvSpPr>
        <p:spPr>
          <a:xfrm>
            <a:off x="8382000" y="29972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500" b="1">
                <a:solidFill>
                  <a:srgbClr val="1F2E4D"/>
                </a:solidFill>
                <a:latin typeface="Calibri" panose="020F0502020204030204" pitchFamily="34" charset="0"/>
              </a:rPr>
              <a:t>Lectura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D0E9522-D82B-9264-CD96-88BC3D240844}"/>
              </a:ext>
            </a:extLst>
          </p:cNvPr>
          <p:cNvSpPr txBox="1"/>
          <p:nvPr/>
        </p:nvSpPr>
        <p:spPr>
          <a:xfrm>
            <a:off x="8382000" y="33528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7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Balance neto: +65 planes (281 altas − 216 bajas).</a:t>
            </a:r>
          </a:p>
          <a:p>
            <a:pPr marL="152400" indent="-152400">
              <a:spcAft>
                <a:spcPts val="7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Eléctrico: 83% de sus planes se mantiene.</a:t>
            </a:r>
          </a:p>
          <a:p>
            <a:pPr marL="152400" indent="-152400">
              <a:spcAft>
                <a:spcPts val="7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Electrónico: 180 planes nuevos, sobre todo réplicas del formato IR de componentes.</a:t>
            </a:r>
          </a:p>
          <a:p>
            <a:pPr marL="152400" indent="-152400">
              <a:spcAft>
                <a:spcPts val="7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514 planes sin decisión: 303 de instrumentación, 156 mecánicos y 55 de adhesivos.</a:t>
            </a:r>
            <a:endParaRPr lang="es-PE" sz="12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C3BD8C9-FF51-08A0-0F60-E19EB31919AE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1C7E659-456F-4E23-07B9-E7204B61FF24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17512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FA5C065-70CB-63B5-888E-918517BA7DB6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EVALUACIÓN DE PLANES  ·  AJUSTES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3D5E1FF-13BD-C435-FEE4-3AF7754E8C66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600" b="1">
                <a:solidFill>
                  <a:srgbClr val="1F2E4D"/>
                </a:solidFill>
                <a:latin typeface="Calibri" panose="020F0502020204030204" pitchFamily="34" charset="0"/>
              </a:rPr>
              <a:t>Frecuencias a 3 meses y traslado de inspecciones al técnico operador</a:t>
            </a:r>
            <a:endParaRPr lang="es-PE" sz="26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9E60485-9346-60B0-7EE4-DE52EEBDA84A}"/>
              </a:ext>
            </a:extLst>
          </p:cNvPr>
          <p:cNvSpPr txBox="1"/>
          <p:nvPr/>
        </p:nvSpPr>
        <p:spPr>
          <a:xfrm>
            <a:off x="508000" y="1371600"/>
            <a:ext cx="558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1F2E4D"/>
                </a:solidFill>
                <a:latin typeface="Calibri" panose="020F0502020204030204" pitchFamily="34" charset="0"/>
              </a:rPr>
              <a:t>Nueva frecuencia propuesta (planes)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4F92CC45-22D3-C48D-D704-592E420868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4144338"/>
              </p:ext>
            </p:extLst>
          </p:nvPr>
        </p:nvGraphicFramePr>
        <p:xfrm>
          <a:off x="431800" y="1651000"/>
          <a:ext cx="56642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1FCBE62-F099-5749-4F74-2468156288BF}"/>
              </a:ext>
            </a:extLst>
          </p:cNvPr>
          <p:cNvSpPr/>
          <p:nvPr/>
        </p:nvSpPr>
        <p:spPr>
          <a:xfrm>
            <a:off x="508000" y="5029200"/>
            <a:ext cx="5588000" cy="10668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E385EE6-25C9-CBEF-A169-35E5EA6AEE9D}"/>
              </a:ext>
            </a:extLst>
          </p:cNvPr>
          <p:cNvSpPr txBox="1"/>
          <p:nvPr/>
        </p:nvSpPr>
        <p:spPr>
          <a:xfrm>
            <a:off x="762000" y="51816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2800" b="1">
                <a:solidFill>
                  <a:srgbClr val="1F2E4D"/>
                </a:solidFill>
                <a:latin typeface="Calibri" panose="020F0502020204030204" pitchFamily="34" charset="0"/>
              </a:rPr>
              <a:t>458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E1D72E-8F51-5D21-547C-D13965B320E2}"/>
              </a:ext>
            </a:extLst>
          </p:cNvPr>
          <p:cNvSpPr txBox="1"/>
          <p:nvPr/>
        </p:nvSpPr>
        <p:spPr>
          <a:xfrm>
            <a:off x="762000" y="56642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>
                <a:solidFill>
                  <a:srgbClr val="6B7280"/>
                </a:solidFill>
                <a:latin typeface="Calibri" panose="020F0502020204030204" pitchFamily="34" charset="0"/>
              </a:rPr>
              <a:t>planes con nueva frecuencia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6854392-9B47-221B-7785-2DC39F08627A}"/>
              </a:ext>
            </a:extLst>
          </p:cNvPr>
          <p:cNvSpPr txBox="1"/>
          <p:nvPr/>
        </p:nvSpPr>
        <p:spPr>
          <a:xfrm>
            <a:off x="2540000" y="51816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2800" b="1">
                <a:solidFill>
                  <a:srgbClr val="E4572E"/>
                </a:solidFill>
                <a:latin typeface="Calibri" panose="020F0502020204030204" pitchFamily="34" charset="0"/>
              </a:rPr>
              <a:t>75%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B10613-E026-3B55-E334-5BED6F0B8288}"/>
              </a:ext>
            </a:extLst>
          </p:cNvPr>
          <p:cNvSpPr txBox="1"/>
          <p:nvPr/>
        </p:nvSpPr>
        <p:spPr>
          <a:xfrm>
            <a:off x="2540000" y="56642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>
                <a:solidFill>
                  <a:srgbClr val="6B7280"/>
                </a:solidFill>
                <a:latin typeface="Calibri" panose="020F0502020204030204" pitchFamily="34" charset="0"/>
              </a:rPr>
              <a:t>quedan cada 3 meses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A4253D5-9864-DD88-AF80-E58CFF173675}"/>
              </a:ext>
            </a:extLst>
          </p:cNvPr>
          <p:cNvSpPr txBox="1"/>
          <p:nvPr/>
        </p:nvSpPr>
        <p:spPr>
          <a:xfrm>
            <a:off x="4318000" y="51816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2800" b="1">
                <a:solidFill>
                  <a:srgbClr val="1F2E4D"/>
                </a:solidFill>
                <a:latin typeface="Calibri" panose="020F0502020204030204" pitchFamily="34" charset="0"/>
              </a:rPr>
              <a:t>211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A07165E-46AA-9E9F-F1F6-24D4D2D8A424}"/>
              </a:ext>
            </a:extLst>
          </p:cNvPr>
          <p:cNvSpPr txBox="1"/>
          <p:nvPr/>
        </p:nvSpPr>
        <p:spPr>
          <a:xfrm>
            <a:off x="4318000" y="56642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>
                <a:solidFill>
                  <a:srgbClr val="6B7280"/>
                </a:solidFill>
                <a:latin typeface="Calibri" panose="020F0502020204030204" pitchFamily="34" charset="0"/>
              </a:rPr>
              <a:t>ajustes: 132 aumentar · 79 disminuir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81D6BDC-77A4-A5C4-9F22-F88DE0DC8325}"/>
              </a:ext>
            </a:extLst>
          </p:cNvPr>
          <p:cNvSpPr txBox="1"/>
          <p:nvPr/>
        </p:nvSpPr>
        <p:spPr>
          <a:xfrm>
            <a:off x="6604000" y="13716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400" b="1">
                <a:solidFill>
                  <a:srgbClr val="1F2E4D"/>
                </a:solidFill>
                <a:latin typeface="Calibri" panose="020F0502020204030204" pitchFamily="34" charset="0"/>
              </a:rPr>
              <a:t>Cambio de puesto de trabajo</a:t>
            </a:r>
            <a:endParaRPr lang="es-PE" sz="14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C167261-763B-9122-CDE5-C0EE38F0AA4E}"/>
              </a:ext>
            </a:extLst>
          </p:cNvPr>
          <p:cNvSpPr/>
          <p:nvPr/>
        </p:nvSpPr>
        <p:spPr>
          <a:xfrm>
            <a:off x="6604000" y="1752600"/>
            <a:ext cx="1168400" cy="431800"/>
          </a:xfrm>
          <a:prstGeom prst="roundRect">
            <a:avLst>
              <a:gd name="adj" fmla="val 20000"/>
            </a:avLst>
          </a:prstGeom>
          <a:solidFill>
            <a:srgbClr val="E9EC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b="1">
                <a:solidFill>
                  <a:srgbClr val="1F2E4D"/>
                </a:solidFill>
              </a:rPr>
              <a:t>SC_MEC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2E6C8633-DA18-8B73-F495-A9038FAFEDF3}"/>
              </a:ext>
            </a:extLst>
          </p:cNvPr>
          <p:cNvSpPr/>
          <p:nvPr/>
        </p:nvSpPr>
        <p:spPr>
          <a:xfrm>
            <a:off x="7874000" y="1866900"/>
            <a:ext cx="431800" cy="203200"/>
          </a:xfrm>
          <a:prstGeom prst="rightArrow">
            <a:avLst/>
          </a:prstGeom>
          <a:solidFill>
            <a:srgbClr val="B8BE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6C73D38-7ECF-D999-DDB8-C63F315DC721}"/>
              </a:ext>
            </a:extLst>
          </p:cNvPr>
          <p:cNvSpPr/>
          <p:nvPr/>
        </p:nvSpPr>
        <p:spPr>
          <a:xfrm>
            <a:off x="8407400" y="1752600"/>
            <a:ext cx="1168400" cy="431800"/>
          </a:xfrm>
          <a:prstGeom prst="roundRect">
            <a:avLst>
              <a:gd name="adj" fmla="val 20000"/>
            </a:avLst>
          </a:prstGeom>
          <a:solidFill>
            <a:srgbClr val="E457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b="1">
                <a:solidFill>
                  <a:srgbClr val="FFFFFF"/>
                </a:solidFill>
              </a:rPr>
              <a:t>SC_OPE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8E8749E-D871-F1F7-B132-00E5194E9719}"/>
              </a:ext>
            </a:extLst>
          </p:cNvPr>
          <p:cNvSpPr txBox="1"/>
          <p:nvPr/>
        </p:nvSpPr>
        <p:spPr>
          <a:xfrm>
            <a:off x="9779000" y="17018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2200" b="1">
                <a:solidFill>
                  <a:srgbClr val="E4572E"/>
                </a:solidFill>
                <a:latin typeface="Calibri" panose="020F0502020204030204" pitchFamily="34" charset="0"/>
              </a:rPr>
              <a:t>31 planes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56F3DAD-0159-5E47-5B3F-3CDAF65AD907}"/>
              </a:ext>
            </a:extLst>
          </p:cNvPr>
          <p:cNvSpPr txBox="1"/>
          <p:nvPr/>
        </p:nvSpPr>
        <p:spPr>
          <a:xfrm>
            <a:off x="6604000" y="23114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Inspecciones IR de estaciones críticas y tareas "parte OPE" pasan al técnico operador.</a:t>
            </a:r>
            <a:endParaRPr lang="es-PE" sz="12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C4D169CA-7A67-6349-91D2-92C399B6EC8F}"/>
              </a:ext>
            </a:extLst>
          </p:cNvPr>
          <p:cNvSpPr/>
          <p:nvPr/>
        </p:nvSpPr>
        <p:spPr>
          <a:xfrm>
            <a:off x="6604000" y="3073400"/>
            <a:ext cx="1168400" cy="431800"/>
          </a:xfrm>
          <a:prstGeom prst="roundRect">
            <a:avLst>
              <a:gd name="adj" fmla="val 20000"/>
            </a:avLst>
          </a:prstGeom>
          <a:solidFill>
            <a:srgbClr val="E9EC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b="1">
                <a:solidFill>
                  <a:srgbClr val="1F2E4D"/>
                </a:solidFill>
              </a:rPr>
              <a:t>SC_ELI</a:t>
            </a:r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A60F41FE-55FC-52AA-AD4E-EFC775E8A8AF}"/>
              </a:ext>
            </a:extLst>
          </p:cNvPr>
          <p:cNvSpPr/>
          <p:nvPr/>
        </p:nvSpPr>
        <p:spPr>
          <a:xfrm>
            <a:off x="7874000" y="3187700"/>
            <a:ext cx="431800" cy="203200"/>
          </a:xfrm>
          <a:prstGeom prst="rightArrow">
            <a:avLst/>
          </a:prstGeom>
          <a:solidFill>
            <a:srgbClr val="B8BE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46DCFA9-D3B8-07B4-60B3-EDF1FABD2B7F}"/>
              </a:ext>
            </a:extLst>
          </p:cNvPr>
          <p:cNvSpPr/>
          <p:nvPr/>
        </p:nvSpPr>
        <p:spPr>
          <a:xfrm>
            <a:off x="8407400" y="3073400"/>
            <a:ext cx="1168400" cy="431800"/>
          </a:xfrm>
          <a:prstGeom prst="roundRect">
            <a:avLst>
              <a:gd name="adj" fmla="val 20000"/>
            </a:avLst>
          </a:prstGeom>
          <a:solidFill>
            <a:srgbClr val="C98A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b="1">
                <a:solidFill>
                  <a:srgbClr val="FFFFFF"/>
                </a:solidFill>
              </a:rPr>
              <a:t>SC_TELI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5DEB3E0-B60C-5716-5343-37BC25357456}"/>
              </a:ext>
            </a:extLst>
          </p:cNvPr>
          <p:cNvSpPr txBox="1"/>
          <p:nvPr/>
        </p:nvSpPr>
        <p:spPr>
          <a:xfrm>
            <a:off x="9779000" y="30226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2200" b="1">
                <a:solidFill>
                  <a:srgbClr val="C98A1B"/>
                </a:solidFill>
                <a:latin typeface="Calibri" panose="020F0502020204030204" pitchFamily="34" charset="0"/>
              </a:rPr>
              <a:t>3 planes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B6015E2-39F4-6DAE-7242-9493D1AB916D}"/>
              </a:ext>
            </a:extLst>
          </p:cNvPr>
          <p:cNvSpPr txBox="1"/>
          <p:nvPr/>
        </p:nvSpPr>
        <p:spPr>
          <a:xfrm>
            <a:off x="6604000" y="36322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Pruebas eléctricas de grupos electrógenos.</a:t>
            </a:r>
            <a:endParaRPr lang="es-PE" sz="12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D55BA4BF-23CC-FCFE-15D2-EBF955C02D48}"/>
              </a:ext>
            </a:extLst>
          </p:cNvPr>
          <p:cNvSpPr/>
          <p:nvPr/>
        </p:nvSpPr>
        <p:spPr>
          <a:xfrm>
            <a:off x="6604000" y="4394200"/>
            <a:ext cx="1168400" cy="431800"/>
          </a:xfrm>
          <a:prstGeom prst="roundRect">
            <a:avLst>
              <a:gd name="adj" fmla="val 20000"/>
            </a:avLst>
          </a:prstGeom>
          <a:solidFill>
            <a:srgbClr val="E9EC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b="1">
                <a:solidFill>
                  <a:srgbClr val="1F2E4D"/>
                </a:solidFill>
              </a:rPr>
              <a:t>SC_TELI</a:t>
            </a:r>
          </a:p>
        </p:txBody>
      </p:sp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D88FEE06-1DF4-FFD4-270D-B5815C34B45A}"/>
              </a:ext>
            </a:extLst>
          </p:cNvPr>
          <p:cNvSpPr/>
          <p:nvPr/>
        </p:nvSpPr>
        <p:spPr>
          <a:xfrm>
            <a:off x="7874000" y="4508500"/>
            <a:ext cx="431800" cy="203200"/>
          </a:xfrm>
          <a:prstGeom prst="rightArrow">
            <a:avLst/>
          </a:prstGeom>
          <a:solidFill>
            <a:srgbClr val="B8BE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2E7F56B9-46E9-D8FC-7AF1-324A20C9C5B9}"/>
              </a:ext>
            </a:extLst>
          </p:cNvPr>
          <p:cNvSpPr/>
          <p:nvPr/>
        </p:nvSpPr>
        <p:spPr>
          <a:xfrm>
            <a:off x="8407400" y="4394200"/>
            <a:ext cx="1168400" cy="431800"/>
          </a:xfrm>
          <a:prstGeom prst="roundRect">
            <a:avLst>
              <a:gd name="adj" fmla="val 20000"/>
            </a:avLst>
          </a:prstGeom>
          <a:solidFill>
            <a:srgbClr val="C98A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b="1">
                <a:solidFill>
                  <a:srgbClr val="FFFFFF"/>
                </a:solidFill>
              </a:rPr>
              <a:t>SC_ELI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1E431F8-B5AB-E9A3-B5F7-A95B7965D8AE}"/>
              </a:ext>
            </a:extLst>
          </p:cNvPr>
          <p:cNvSpPr txBox="1"/>
          <p:nvPr/>
        </p:nvSpPr>
        <p:spPr>
          <a:xfrm>
            <a:off x="9779000" y="43434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2200" b="1">
                <a:solidFill>
                  <a:srgbClr val="C98A1B"/>
                </a:solidFill>
                <a:latin typeface="Calibri" panose="020F0502020204030204" pitchFamily="34" charset="0"/>
              </a:rPr>
              <a:t>3 planes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41039BF-9B31-C2E4-E324-7E193D81F2AF}"/>
              </a:ext>
            </a:extLst>
          </p:cNvPr>
          <p:cNvSpPr txBox="1"/>
          <p:nvPr/>
        </p:nvSpPr>
        <p:spPr>
          <a:xfrm>
            <a:off x="6604000" y="49530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Tareas que ejecuta personal KC.</a:t>
            </a:r>
            <a:endParaRPr lang="es-PE" sz="12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19FAE26-E7F3-1C8B-6C84-78D42ADBBB42}"/>
              </a:ext>
            </a:extLst>
          </p:cNvPr>
          <p:cNvSpPr txBox="1"/>
          <p:nvPr/>
        </p:nvSpPr>
        <p:spPr>
          <a:xfrm>
            <a:off x="6604000" y="56896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100" i="1">
                <a:solidFill>
                  <a:srgbClr val="6B7280"/>
                </a:solidFill>
                <a:latin typeface="Calibri" panose="020F0502020204030204" pitchFamily="34" charset="0"/>
              </a:rPr>
              <a:t>Además, 3 planes eléctricos se confirman en SC_ELI y 1 plan mecánico pasa a SC_ELE.</a:t>
            </a:r>
            <a:endParaRPr lang="es-PE" sz="1100" i="1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3322A0C-7DD4-72C7-17E5-8D85ED1A5E7A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7C61F23-D46D-9299-1B66-589B3549E271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57084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BB8314A-67EA-0990-7A20-17F274B642A0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PROPUESTAS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E372F43-710F-B2C0-5D26-BAB7517A32DB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600" b="1">
                <a:solidFill>
                  <a:srgbClr val="1F2E4D"/>
                </a:solidFill>
                <a:latin typeface="Calibri" panose="020F0502020204030204" pitchFamily="34" charset="0"/>
              </a:rPr>
              <a:t>Propuestas por especialidad para los módulos críticos</a:t>
            </a:r>
            <a:endParaRPr lang="es-PE" sz="26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041C313-6E10-096F-1C92-B66BC080847C}"/>
              </a:ext>
            </a:extLst>
          </p:cNvPr>
          <p:cNvSpPr/>
          <p:nvPr/>
        </p:nvSpPr>
        <p:spPr>
          <a:xfrm>
            <a:off x="508000" y="1346200"/>
            <a:ext cx="2641600" cy="48006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B5AB91D-9152-35FE-63C1-DF9391C54E87}"/>
              </a:ext>
            </a:extLst>
          </p:cNvPr>
          <p:cNvSpPr/>
          <p:nvPr/>
        </p:nvSpPr>
        <p:spPr>
          <a:xfrm>
            <a:off x="685800" y="1524000"/>
            <a:ext cx="406400" cy="406400"/>
          </a:xfrm>
          <a:prstGeom prst="ellipse">
            <a:avLst/>
          </a:prstGeom>
          <a:solidFill>
            <a:srgbClr val="2E7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Forma 5">
            <a:extLst>
              <a:ext uri="{FF2B5EF4-FFF2-40B4-BE49-F238E27FC236}">
                <a16:creationId xmlns:a16="http://schemas.microsoft.com/office/drawing/2014/main" id="{28770BD9-C060-B893-DC92-2A173F91323B}"/>
              </a:ext>
            </a:extLst>
          </p:cNvPr>
          <p:cNvSpPr/>
          <p:nvPr/>
        </p:nvSpPr>
        <p:spPr>
          <a:xfrm>
            <a:off x="791464" y="1629664"/>
            <a:ext cx="195072" cy="195072"/>
          </a:xfrm>
          <a:prstGeom prst="gear6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DDD9414-61DF-B371-47AD-238082B052EF}"/>
              </a:ext>
            </a:extLst>
          </p:cNvPr>
          <p:cNvSpPr txBox="1"/>
          <p:nvPr/>
        </p:nvSpPr>
        <p:spPr>
          <a:xfrm>
            <a:off x="1193800" y="1524000"/>
            <a:ext cx="185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PE" sz="1500" b="1">
                <a:solidFill>
                  <a:srgbClr val="2E7A5E"/>
                </a:solidFill>
                <a:latin typeface="Calibri" panose="020F0502020204030204" pitchFamily="34" charset="0"/>
              </a:rPr>
              <a:t>Mecánico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09C83B8-6C8F-C67E-9D3E-5AEA34008EC6}"/>
              </a:ext>
            </a:extLst>
          </p:cNvPr>
          <p:cNvSpPr txBox="1"/>
          <p:nvPr/>
        </p:nvSpPr>
        <p:spPr>
          <a:xfrm>
            <a:off x="685800" y="2108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950" b="1">
                <a:solidFill>
                  <a:srgbClr val="6B7280"/>
                </a:solidFill>
                <a:latin typeface="Calibri" panose="020F0502020204030204" pitchFamily="34" charset="0"/>
              </a:rPr>
              <a:t>MANTENIMIENTO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E46FF43-F242-F6CD-6F64-FAAED1DE601D}"/>
              </a:ext>
            </a:extLst>
          </p:cNvPr>
          <p:cNvSpPr txBox="1"/>
          <p:nvPr/>
        </p:nvSpPr>
        <p:spPr>
          <a:xfrm>
            <a:off x="685800" y="23368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27000" indent="-127000">
              <a:spcAft>
                <a:spcPts val="500"/>
              </a:spcAft>
              <a:buClr>
                <a:srgbClr val="2E7A5E"/>
              </a:buClr>
              <a:buFont typeface="+mj-lt"/>
              <a:buChar char="•"/>
            </a:pPr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Planes por modo de falla: desgaste de fajas, alineamiento y cortes (FCO, LEA, SLA, PCO, WEA, FPA).</a:t>
            </a:r>
          </a:p>
          <a:p>
            <a:pPr marL="127000" indent="-127000">
              <a:spcAft>
                <a:spcPts val="500"/>
              </a:spcAft>
              <a:buClr>
                <a:srgbClr val="2E7A5E"/>
              </a:buClr>
              <a:buFont typeface="+mj-lt"/>
              <a:buChar char="•"/>
            </a:pPr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Cambio programado de fajas en SWA.</a:t>
            </a:r>
          </a:p>
          <a:p>
            <a:pPr marL="127000" indent="-127000">
              <a:spcAft>
                <a:spcPts val="500"/>
              </a:spcAft>
              <a:buClr>
                <a:srgbClr val="2E7A5E"/>
              </a:buClr>
              <a:buFont typeface="+mj-lt"/>
              <a:buChar char="•"/>
            </a:pPr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PADS MILL: cambio de contracuchilla e inspección por SKF.</a:t>
            </a:r>
          </a:p>
          <a:p>
            <a:pPr marL="127000" indent="-127000">
              <a:spcAft>
                <a:spcPts val="500"/>
              </a:spcAft>
              <a:buClr>
                <a:srgbClr val="2E7A5E"/>
              </a:buClr>
              <a:buFont typeface="+mj-lt"/>
              <a:buChar char="•"/>
            </a:pPr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PF5 y PA1: PM preventivo por estación.</a:t>
            </a:r>
            <a:endParaRPr lang="es-PE" sz="11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DBE9F90-ED97-E447-75AB-23A29FA67008}"/>
              </a:ext>
            </a:extLst>
          </p:cNvPr>
          <p:cNvCxnSpPr/>
          <p:nvPr/>
        </p:nvCxnSpPr>
        <p:spPr>
          <a:xfrm>
            <a:off x="685800" y="4978400"/>
            <a:ext cx="228600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4AAA596-122A-03CD-AA90-43850D9A6017}"/>
              </a:ext>
            </a:extLst>
          </p:cNvPr>
          <p:cNvSpPr txBox="1"/>
          <p:nvPr/>
        </p:nvSpPr>
        <p:spPr>
          <a:xfrm>
            <a:off x="685800" y="51054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950" b="1">
                <a:solidFill>
                  <a:srgbClr val="6B7280"/>
                </a:solidFill>
                <a:latin typeface="Calibri" panose="020F0502020204030204" pitchFamily="34" charset="0"/>
              </a:rPr>
              <a:t>PRODUCCIÓN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28A8A97-CCAE-DDE9-C1A7-C5B803E5FDF6}"/>
              </a:ext>
            </a:extLst>
          </p:cNvPr>
          <p:cNvSpPr txBox="1"/>
          <p:nvPr/>
        </p:nvSpPr>
        <p:spPr>
          <a:xfrm>
            <a:off x="685800" y="53340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Limpieza autónoma de la sección e IR de sección (FLF).</a:t>
            </a:r>
            <a:endParaRPr lang="es-PE" sz="11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CD924448-07EB-4FF1-CD5E-11603086E6BE}"/>
              </a:ext>
            </a:extLst>
          </p:cNvPr>
          <p:cNvSpPr/>
          <p:nvPr/>
        </p:nvSpPr>
        <p:spPr>
          <a:xfrm>
            <a:off x="3352800" y="1346200"/>
            <a:ext cx="2641600" cy="48006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CE31725-6804-08A9-637E-6A14F7758A87}"/>
              </a:ext>
            </a:extLst>
          </p:cNvPr>
          <p:cNvSpPr/>
          <p:nvPr/>
        </p:nvSpPr>
        <p:spPr>
          <a:xfrm>
            <a:off x="3530600" y="1524000"/>
            <a:ext cx="406400" cy="406400"/>
          </a:xfrm>
          <a:prstGeom prst="ellipse">
            <a:avLst/>
          </a:prstGeom>
          <a:solidFill>
            <a:srgbClr val="6B3A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Rayo 14">
            <a:extLst>
              <a:ext uri="{FF2B5EF4-FFF2-40B4-BE49-F238E27FC236}">
                <a16:creationId xmlns:a16="http://schemas.microsoft.com/office/drawing/2014/main" id="{27BA386D-EC90-55C3-BC34-7F486296C174}"/>
              </a:ext>
            </a:extLst>
          </p:cNvPr>
          <p:cNvSpPr/>
          <p:nvPr/>
        </p:nvSpPr>
        <p:spPr>
          <a:xfrm>
            <a:off x="3636264" y="1629664"/>
            <a:ext cx="195072" cy="195072"/>
          </a:xfrm>
          <a:prstGeom prst="lightningBol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9F96AE0-36E8-3434-9B2C-F603FF5E70A7}"/>
              </a:ext>
            </a:extLst>
          </p:cNvPr>
          <p:cNvSpPr txBox="1"/>
          <p:nvPr/>
        </p:nvSpPr>
        <p:spPr>
          <a:xfrm>
            <a:off x="4038600" y="1524000"/>
            <a:ext cx="185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PE" sz="1500" b="1">
                <a:solidFill>
                  <a:srgbClr val="6B3A8B"/>
                </a:solidFill>
                <a:latin typeface="Calibri" panose="020F0502020204030204" pitchFamily="34" charset="0"/>
              </a:rPr>
              <a:t>Electrónico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869924-B7F9-573C-7F45-A9238CC4D963}"/>
              </a:ext>
            </a:extLst>
          </p:cNvPr>
          <p:cNvSpPr txBox="1"/>
          <p:nvPr/>
        </p:nvSpPr>
        <p:spPr>
          <a:xfrm>
            <a:off x="3530600" y="2108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950" b="1">
                <a:solidFill>
                  <a:srgbClr val="6B7280"/>
                </a:solidFill>
                <a:latin typeface="Calibri" panose="020F0502020204030204" pitchFamily="34" charset="0"/>
              </a:rPr>
              <a:t>MANTENIMIENTO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C39B94F-83C7-A92B-F0E1-D973BBAE7DF3}"/>
              </a:ext>
            </a:extLst>
          </p:cNvPr>
          <p:cNvSpPr txBox="1"/>
          <p:nvPr/>
        </p:nvSpPr>
        <p:spPr>
          <a:xfrm>
            <a:off x="3530600" y="23368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27000" indent="-127000">
              <a:spcAft>
                <a:spcPts val="500"/>
              </a:spcAft>
              <a:buClr>
                <a:srgbClr val="6B3A8B"/>
              </a:buClr>
              <a:buFont typeface="+mj-lt"/>
              <a:buChar char="•"/>
            </a:pPr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Tableros: FR (CS BCM), CMP/CDP y condiciones de A/A (PADS).</a:t>
            </a:r>
          </a:p>
          <a:p>
            <a:pPr marL="127000" indent="-127000">
              <a:spcAft>
                <a:spcPts val="500"/>
              </a:spcAft>
              <a:buClr>
                <a:srgbClr val="6B3A8B"/>
              </a:buClr>
              <a:buFont typeface="+mj-lt"/>
              <a:buChar char="•"/>
            </a:pPr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Componentes + capacitación: ICU, SLA, SLU, OCU y LNU.</a:t>
            </a:r>
          </a:p>
          <a:p>
            <a:pPr marL="127000" indent="-127000">
              <a:spcAft>
                <a:spcPts val="500"/>
              </a:spcAft>
              <a:buClr>
                <a:srgbClr val="6B3A8B"/>
              </a:buClr>
              <a:buFont typeface="+mj-lt"/>
              <a:buChar char="•"/>
            </a:pPr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SAM: cambio de filtros en línea; PF5: variadores y arrancadores.</a:t>
            </a:r>
          </a:p>
          <a:p>
            <a:pPr marL="127000" indent="-127000">
              <a:spcAft>
                <a:spcPts val="500"/>
              </a:spcAft>
              <a:buClr>
                <a:srgbClr val="6B3A8B"/>
              </a:buClr>
              <a:buFont typeface="+mj-lt"/>
              <a:buChar char="•"/>
            </a:pPr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Instrumentación (SC_INS): metrología, fugas de aire, sistema Fike y colectores.</a:t>
            </a:r>
            <a:endParaRPr lang="es-PE" sz="11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F9079BA-B576-F5D5-91AF-68E8BA23AFDB}"/>
              </a:ext>
            </a:extLst>
          </p:cNvPr>
          <p:cNvCxnSpPr/>
          <p:nvPr/>
        </p:nvCxnSpPr>
        <p:spPr>
          <a:xfrm>
            <a:off x="3530600" y="4978400"/>
            <a:ext cx="228600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499FA19-5C44-1DC8-A1D3-706246FE7B07}"/>
              </a:ext>
            </a:extLst>
          </p:cNvPr>
          <p:cNvSpPr txBox="1"/>
          <p:nvPr/>
        </p:nvSpPr>
        <p:spPr>
          <a:xfrm>
            <a:off x="3530600" y="51054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950" b="1">
                <a:solidFill>
                  <a:srgbClr val="6B7280"/>
                </a:solidFill>
                <a:latin typeface="Calibri" panose="020F0502020204030204" pitchFamily="34" charset="0"/>
              </a:rPr>
              <a:t>PRODUCCIÓN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C0CFFFE-36D0-1FE7-1F87-7E167FC58609}"/>
              </a:ext>
            </a:extLst>
          </p:cNvPr>
          <p:cNvSpPr txBox="1"/>
          <p:nvPr/>
        </p:nvSpPr>
        <p:spPr>
          <a:xfrm>
            <a:off x="3530600" y="53340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Limpieza autónoma y de filtros en línea (SAM).</a:t>
            </a:r>
            <a:endParaRPr lang="es-PE" sz="11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946C439A-5C1E-DF40-9C57-8FBAA83BEF26}"/>
              </a:ext>
            </a:extLst>
          </p:cNvPr>
          <p:cNvSpPr/>
          <p:nvPr/>
        </p:nvSpPr>
        <p:spPr>
          <a:xfrm>
            <a:off x="6197600" y="1346200"/>
            <a:ext cx="2641600" cy="48006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9F83ED39-1D7D-9D7E-9915-9D5556E9A1B6}"/>
              </a:ext>
            </a:extLst>
          </p:cNvPr>
          <p:cNvSpPr/>
          <p:nvPr/>
        </p:nvSpPr>
        <p:spPr>
          <a:xfrm>
            <a:off x="6375400" y="1524000"/>
            <a:ext cx="406400" cy="406400"/>
          </a:xfrm>
          <a:prstGeom prst="ellipse">
            <a:avLst/>
          </a:prstGeom>
          <a:solidFill>
            <a:srgbClr val="C98A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Cilindro 23">
            <a:extLst>
              <a:ext uri="{FF2B5EF4-FFF2-40B4-BE49-F238E27FC236}">
                <a16:creationId xmlns:a16="http://schemas.microsoft.com/office/drawing/2014/main" id="{B0F1508A-3ECA-1571-0B79-081C0B6BE420}"/>
              </a:ext>
            </a:extLst>
          </p:cNvPr>
          <p:cNvSpPr/>
          <p:nvPr/>
        </p:nvSpPr>
        <p:spPr>
          <a:xfrm>
            <a:off x="6481064" y="1629664"/>
            <a:ext cx="195072" cy="195072"/>
          </a:xfrm>
          <a:prstGeom prst="can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D86FF34-1448-9293-0AC8-7F063064950D}"/>
              </a:ext>
            </a:extLst>
          </p:cNvPr>
          <p:cNvSpPr txBox="1"/>
          <p:nvPr/>
        </p:nvSpPr>
        <p:spPr>
          <a:xfrm>
            <a:off x="6883400" y="1524000"/>
            <a:ext cx="185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PE" sz="1500" b="1">
                <a:solidFill>
                  <a:srgbClr val="C98A1B"/>
                </a:solidFill>
                <a:latin typeface="Calibri" panose="020F0502020204030204" pitchFamily="34" charset="0"/>
              </a:rPr>
              <a:t>Eléctrico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2BAC2D4-2FBB-9C88-469D-22871A9038C0}"/>
              </a:ext>
            </a:extLst>
          </p:cNvPr>
          <p:cNvSpPr txBox="1"/>
          <p:nvPr/>
        </p:nvSpPr>
        <p:spPr>
          <a:xfrm>
            <a:off x="6375400" y="2108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950" b="1">
                <a:solidFill>
                  <a:srgbClr val="6B7280"/>
                </a:solidFill>
                <a:latin typeface="Calibri" panose="020F0502020204030204" pitchFamily="34" charset="0"/>
              </a:rPr>
              <a:t>MANTENIMIENTO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F5DE0FD-2F2D-FA2B-6094-CAF2A0541821}"/>
              </a:ext>
            </a:extLst>
          </p:cNvPr>
          <p:cNvSpPr txBox="1"/>
          <p:nvPr/>
        </p:nvSpPr>
        <p:spPr>
          <a:xfrm>
            <a:off x="6375400" y="23368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27000" indent="-127000">
              <a:spcAft>
                <a:spcPts val="500"/>
              </a:spcAft>
              <a:buClr>
                <a:srgbClr val="C98A1B"/>
              </a:buClr>
              <a:buFont typeface="+mj-lt"/>
              <a:buChar char="•"/>
            </a:pPr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38 planes nuevos para motores y variadores (recuperador y ventiladores).</a:t>
            </a:r>
          </a:p>
          <a:p>
            <a:pPr marL="127000" indent="-127000">
              <a:spcAft>
                <a:spcPts val="500"/>
              </a:spcAft>
              <a:buClr>
                <a:srgbClr val="C98A1B"/>
              </a:buClr>
              <a:buFont typeface="+mj-lt"/>
              <a:buChar char="•"/>
            </a:pPr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Frecuencia según criticidad: subestación MT quincenal; grupos electrógenos y estaciones de regulación, anual.</a:t>
            </a:r>
          </a:p>
          <a:p>
            <a:pPr marL="127000" indent="-127000">
              <a:spcAft>
                <a:spcPts val="500"/>
              </a:spcAft>
              <a:buClr>
                <a:srgbClr val="C98A1B"/>
              </a:buClr>
              <a:buFont typeface="+mj-lt"/>
              <a:buChar char="•"/>
            </a:pPr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Puesto según quién ejecuta: TELI o ELI (personal KC).</a:t>
            </a:r>
          </a:p>
          <a:p>
            <a:pPr marL="127000" indent="-127000">
              <a:spcAft>
                <a:spcPts val="500"/>
              </a:spcAft>
              <a:buClr>
                <a:srgbClr val="C98A1B"/>
              </a:buClr>
              <a:buFont typeface="+mj-lt"/>
              <a:buChar char="•"/>
            </a:pPr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Depurar 87 planes: duplicados, del alcance del SCI o de terceros.</a:t>
            </a:r>
            <a:endParaRPr lang="es-PE" sz="11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3E4A5118-C20A-8E30-23D2-5F69FFBCD928}"/>
              </a:ext>
            </a:extLst>
          </p:cNvPr>
          <p:cNvCxnSpPr/>
          <p:nvPr/>
        </p:nvCxnSpPr>
        <p:spPr>
          <a:xfrm>
            <a:off x="6375400" y="4978400"/>
            <a:ext cx="228600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0A840E2-E6B1-52D2-8E56-767A7C5CBF21}"/>
              </a:ext>
            </a:extLst>
          </p:cNvPr>
          <p:cNvSpPr txBox="1"/>
          <p:nvPr/>
        </p:nvSpPr>
        <p:spPr>
          <a:xfrm>
            <a:off x="6375400" y="51054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950" b="1">
                <a:solidFill>
                  <a:srgbClr val="6B7280"/>
                </a:solidFill>
                <a:latin typeface="Calibri" panose="020F0502020204030204" pitchFamily="34" charset="0"/>
              </a:rPr>
              <a:t>BASE DE PLANES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073222A-6885-6914-335F-E2C32F10D3DE}"/>
              </a:ext>
            </a:extLst>
          </p:cNvPr>
          <p:cNvSpPr txBox="1"/>
          <p:nvPr/>
        </p:nvSpPr>
        <p:spPr>
          <a:xfrm>
            <a:off x="6375400" y="53340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748 se mantienen · 22 se modifican · 39 altas · 87 bajas.</a:t>
            </a:r>
            <a:endParaRPr lang="es-PE" sz="11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E88C73BE-32A8-CF8A-9CA1-4C082A868677}"/>
              </a:ext>
            </a:extLst>
          </p:cNvPr>
          <p:cNvSpPr/>
          <p:nvPr/>
        </p:nvSpPr>
        <p:spPr>
          <a:xfrm>
            <a:off x="9042400" y="1346200"/>
            <a:ext cx="2641600" cy="48006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63EC881D-B488-3A06-492A-A03D4394A61D}"/>
              </a:ext>
            </a:extLst>
          </p:cNvPr>
          <p:cNvSpPr/>
          <p:nvPr/>
        </p:nvSpPr>
        <p:spPr>
          <a:xfrm>
            <a:off x="9220200" y="1524000"/>
            <a:ext cx="406400" cy="406400"/>
          </a:xfrm>
          <a:prstGeom prst="ellipse">
            <a:avLst/>
          </a:prstGeom>
          <a:solidFill>
            <a:srgbClr val="007A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Lágrima 32">
            <a:extLst>
              <a:ext uri="{FF2B5EF4-FFF2-40B4-BE49-F238E27FC236}">
                <a16:creationId xmlns:a16="http://schemas.microsoft.com/office/drawing/2014/main" id="{E99C5896-D1D5-5F95-E7E8-7C6952380266}"/>
              </a:ext>
            </a:extLst>
          </p:cNvPr>
          <p:cNvSpPr/>
          <p:nvPr/>
        </p:nvSpPr>
        <p:spPr>
          <a:xfrm>
            <a:off x="9325864" y="1629664"/>
            <a:ext cx="195072" cy="195072"/>
          </a:xfrm>
          <a:prstGeom prst="teardrop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18B879E-4737-FA8D-279A-717874C43CEA}"/>
              </a:ext>
            </a:extLst>
          </p:cNvPr>
          <p:cNvSpPr txBox="1"/>
          <p:nvPr/>
        </p:nvSpPr>
        <p:spPr>
          <a:xfrm>
            <a:off x="9728200" y="1524000"/>
            <a:ext cx="185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PE" sz="1500" b="1">
                <a:solidFill>
                  <a:srgbClr val="007A7A"/>
                </a:solidFill>
                <a:latin typeface="Calibri" panose="020F0502020204030204" pitchFamily="34" charset="0"/>
              </a:rPr>
              <a:t>Adhesivos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6F0E16B-1A1B-9EB2-6FB8-1602EF08F7C6}"/>
              </a:ext>
            </a:extLst>
          </p:cNvPr>
          <p:cNvSpPr txBox="1"/>
          <p:nvPr/>
        </p:nvSpPr>
        <p:spPr>
          <a:xfrm>
            <a:off x="9220200" y="2108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950" b="1">
                <a:solidFill>
                  <a:srgbClr val="6B7280"/>
                </a:solidFill>
                <a:latin typeface="Calibri" panose="020F0502020204030204" pitchFamily="34" charset="0"/>
              </a:rPr>
              <a:t>MANTENIMIENTO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46C80A0-C668-B267-D747-85F3C5F6AF70}"/>
              </a:ext>
            </a:extLst>
          </p:cNvPr>
          <p:cNvSpPr txBox="1"/>
          <p:nvPr/>
        </p:nvSpPr>
        <p:spPr>
          <a:xfrm>
            <a:off x="9220200" y="23368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27000" indent="-127000">
              <a:spcAft>
                <a:spcPts val="500"/>
              </a:spcAft>
              <a:buClr>
                <a:srgbClr val="007A7A"/>
              </a:buClr>
              <a:buFont typeface="+mj-lt"/>
              <a:buChar char="•"/>
            </a:pPr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Coleros: PM de tableros, termografía y colero de backup.</a:t>
            </a:r>
          </a:p>
          <a:p>
            <a:pPr marL="127000" indent="-127000">
              <a:spcAft>
                <a:spcPts val="500"/>
              </a:spcAft>
              <a:buClr>
                <a:srgbClr val="007A7A"/>
              </a:buClr>
              <a:buFont typeface="+mj-lt"/>
              <a:buChar char="•"/>
            </a:pPr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Aplicadores: PM + checklist de calidad + capacitación a técnicos de producción.</a:t>
            </a:r>
          </a:p>
          <a:p>
            <a:pPr marL="127000" indent="-127000">
              <a:spcAft>
                <a:spcPts val="500"/>
              </a:spcAft>
              <a:buClr>
                <a:srgbClr val="007A7A"/>
              </a:buClr>
              <a:buFont typeface="+mj-lt"/>
              <a:buChar char="•"/>
            </a:pPr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55 planes SC_ADHE: 18 IR según formato (1–2 meses) y 37 PM de aplicadores (9–12 meses).</a:t>
            </a:r>
          </a:p>
          <a:p>
            <a:pPr marL="127000" indent="-127000">
              <a:spcAft>
                <a:spcPts val="500"/>
              </a:spcAft>
              <a:buClr>
                <a:srgbClr val="007A7A"/>
              </a:buClr>
              <a:buFont typeface="+mj-lt"/>
              <a:buChar char="•"/>
            </a:pPr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Ajustar el trabajo de las operaciones a 0.1 h, según la revisión de los planes.</a:t>
            </a:r>
            <a:endParaRPr lang="es-PE" sz="11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CCF6CED1-DDE3-BFD2-8E0A-EC70C8F85A57}"/>
              </a:ext>
            </a:extLst>
          </p:cNvPr>
          <p:cNvCxnSpPr/>
          <p:nvPr/>
        </p:nvCxnSpPr>
        <p:spPr>
          <a:xfrm>
            <a:off x="9220200" y="4978400"/>
            <a:ext cx="228600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5D4344F1-3892-690F-BFA4-CE9DB24FDC7A}"/>
              </a:ext>
            </a:extLst>
          </p:cNvPr>
          <p:cNvSpPr txBox="1"/>
          <p:nvPr/>
        </p:nvSpPr>
        <p:spPr>
          <a:xfrm>
            <a:off x="9220200" y="51054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950" b="1">
                <a:solidFill>
                  <a:srgbClr val="6B7280"/>
                </a:solidFill>
                <a:latin typeface="Calibri" panose="020F0502020204030204" pitchFamily="34" charset="0"/>
              </a:rPr>
              <a:t>PRODUCCIÓN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7BDE531-A2D8-761A-B5D6-027039CA2A17}"/>
              </a:ext>
            </a:extLst>
          </p:cNvPr>
          <p:cNvSpPr txBox="1"/>
          <p:nvPr/>
        </p:nvSpPr>
        <p:spPr>
          <a:xfrm>
            <a:off x="9220200" y="53340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100">
                <a:solidFill>
                  <a:srgbClr val="374151"/>
                </a:solidFill>
                <a:latin typeface="Calibri" panose="020F0502020204030204" pitchFamily="34" charset="0"/>
              </a:rPr>
              <a:t>Limpieza de derrames de adhesivo.</a:t>
            </a:r>
            <a:endParaRPr lang="es-PE" sz="11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FB865F9-9B5F-3A64-0255-69F7E8AB1286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5C066EDE-499E-C07F-5C75-74059136E7FD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894251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5FB01FB-C554-E0E4-19B6-3CDD4162DE8B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PROPUESTAS  ·  IMPACTO EN SAP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B92CA26-1BC6-7A38-6D15-7C708E28AAB3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600" b="1">
                <a:solidFill>
                  <a:srgbClr val="1F2E4D"/>
                </a:solidFill>
                <a:latin typeface="Calibri" panose="020F0502020204030204" pitchFamily="34" charset="0"/>
              </a:rPr>
              <a:t>Qué cambia en la base de planes preventivos</a:t>
            </a:r>
            <a:endParaRPr lang="es-PE" sz="26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6F21E5D-82C9-FE68-EFDF-667BB3A41BCF}"/>
              </a:ext>
            </a:extLst>
          </p:cNvPr>
          <p:cNvSpPr/>
          <p:nvPr/>
        </p:nvSpPr>
        <p:spPr>
          <a:xfrm>
            <a:off x="508000" y="1371600"/>
            <a:ext cx="3556000" cy="3683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BB6ABEC-B448-3AE2-888A-7530DF64E8F1}"/>
              </a:ext>
            </a:extLst>
          </p:cNvPr>
          <p:cNvSpPr txBox="1"/>
          <p:nvPr/>
        </p:nvSpPr>
        <p:spPr>
          <a:xfrm>
            <a:off x="787400" y="1549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4400" b="1">
                <a:solidFill>
                  <a:srgbClr val="2E9E5B"/>
                </a:solidFill>
                <a:latin typeface="Calibri" panose="020F0502020204030204" pitchFamily="34" charset="0"/>
              </a:rPr>
              <a:t>+281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6FFBF7-3936-38CF-8113-A9046B44F019}"/>
              </a:ext>
            </a:extLst>
          </p:cNvPr>
          <p:cNvSpPr txBox="1"/>
          <p:nvPr/>
        </p:nvSpPr>
        <p:spPr>
          <a:xfrm>
            <a:off x="787400" y="22606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500" b="1">
                <a:solidFill>
                  <a:srgbClr val="1F2E4D"/>
                </a:solidFill>
                <a:latin typeface="Calibri" panose="020F0502020204030204" pitchFamily="34" charset="0"/>
              </a:rPr>
              <a:t>planes nuevos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4AD9C9A-D470-FC00-29B2-77D76C6A6B45}"/>
              </a:ext>
            </a:extLst>
          </p:cNvPr>
          <p:cNvSpPr txBox="1"/>
          <p:nvPr/>
        </p:nvSpPr>
        <p:spPr>
          <a:xfrm>
            <a:off x="787400" y="26670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700"/>
              </a:spcAft>
              <a:buClr>
                <a:srgbClr val="2E9E5B"/>
              </a:buClr>
              <a:buFont typeface="+mj-lt"/>
              <a:buChar char="•"/>
            </a:pPr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87 réplicas del formato IR 99795 (componentes electrónicos).</a:t>
            </a:r>
          </a:p>
          <a:p>
            <a:pPr marL="152400" indent="-152400">
              <a:spcAft>
                <a:spcPts val="700"/>
              </a:spcAft>
              <a:buClr>
                <a:srgbClr val="2E9E5B"/>
              </a:buClr>
              <a:buFont typeface="+mj-lt"/>
              <a:buChar char="•"/>
            </a:pPr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38 planes nuevos de motores y variadores (eléctrico).</a:t>
            </a:r>
          </a:p>
          <a:p>
            <a:pPr marL="152400" indent="-152400">
              <a:spcAft>
                <a:spcPts val="700"/>
              </a:spcAft>
              <a:buClr>
                <a:srgbClr val="2E9E5B"/>
              </a:buClr>
              <a:buFont typeface="+mj-lt"/>
              <a:buChar char="•"/>
            </a:pPr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27 PM para medir resistencias y sensores de temperatura y presión (aplicadores de adhesivo).</a:t>
            </a:r>
          </a:p>
          <a:p>
            <a:pPr marL="152400" indent="-152400">
              <a:spcAft>
                <a:spcPts val="700"/>
              </a:spcAft>
              <a:buClr>
                <a:srgbClr val="2E9E5B"/>
              </a:buClr>
              <a:buFont typeface="+mj-lt"/>
              <a:buChar char="•"/>
            </a:pPr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12 planes de lubricación de cuchillas y réplicas de PM de tableros.</a:t>
            </a:r>
            <a:endParaRPr lang="es-PE" sz="12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159884A-CD02-F7E1-40E8-8E63B93037D7}"/>
              </a:ext>
            </a:extLst>
          </p:cNvPr>
          <p:cNvSpPr/>
          <p:nvPr/>
        </p:nvSpPr>
        <p:spPr>
          <a:xfrm>
            <a:off x="4318000" y="1371600"/>
            <a:ext cx="3556000" cy="3683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A1F75B8-FA5D-DEFA-F007-EB6BCFE95183}"/>
              </a:ext>
            </a:extLst>
          </p:cNvPr>
          <p:cNvSpPr txBox="1"/>
          <p:nvPr/>
        </p:nvSpPr>
        <p:spPr>
          <a:xfrm>
            <a:off x="4597400" y="1549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4400" b="1">
                <a:solidFill>
                  <a:srgbClr val="C0392B"/>
                </a:solidFill>
                <a:latin typeface="Calibri" panose="020F0502020204030204" pitchFamily="34" charset="0"/>
              </a:rPr>
              <a:t>−216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032C393-350A-59DB-C21E-C10DF4A79C5F}"/>
              </a:ext>
            </a:extLst>
          </p:cNvPr>
          <p:cNvSpPr txBox="1"/>
          <p:nvPr/>
        </p:nvSpPr>
        <p:spPr>
          <a:xfrm>
            <a:off x="4597400" y="22606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500" b="1">
                <a:solidFill>
                  <a:srgbClr val="1F2E4D"/>
                </a:solidFill>
                <a:latin typeface="Calibri" panose="020F0502020204030204" pitchFamily="34" charset="0"/>
              </a:rPr>
              <a:t>bajas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97C5733-4954-CE87-552F-21878B5C4EA9}"/>
              </a:ext>
            </a:extLst>
          </p:cNvPr>
          <p:cNvSpPr txBox="1"/>
          <p:nvPr/>
        </p:nvSpPr>
        <p:spPr>
          <a:xfrm>
            <a:off x="4597400" y="26670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700"/>
              </a:spcAft>
              <a:buClr>
                <a:srgbClr val="C0392B"/>
              </a:buClr>
              <a:buFont typeface="+mj-lt"/>
              <a:buChar char="•"/>
            </a:pPr>
            <a:r>
              <a:rPr lang="es-PE" sz="1200">
                <a:solidFill>
                  <a:srgbClr val="374151"/>
                </a:solidFill>
                <a:latin typeface="Calibri" panose="020F0502020204030204" pitchFamily="34" charset="0"/>
              </a:rPr>
              <a:t>33 por nueva estrategia: IR o PM solo en secciones críticas.</a:t>
            </a:r>
          </a:p>
          <a:p>
            <a:pPr marL="152400" indent="-152400">
              <a:spcAft>
                <a:spcPts val="700"/>
              </a:spcAft>
              <a:buClr>
                <a:srgbClr val="C0392B"/>
              </a:buClr>
              <a:buFont typeface="+mj-lt"/>
              <a:buChar char="•"/>
            </a:pPr>
            <a:r>
              <a:rPr lang="es-PE" sz="1200">
                <a:solidFill>
                  <a:srgbClr val="374151"/>
                </a:solidFill>
                <a:latin typeface="Calibri" panose="020F0502020204030204" pitchFamily="34" charset="0"/>
              </a:rPr>
              <a:t>Planes sin uso o para retirar de SAP.</a:t>
            </a:r>
          </a:p>
          <a:p>
            <a:pPr marL="152400" indent="-152400">
              <a:spcAft>
                <a:spcPts val="700"/>
              </a:spcAft>
              <a:buClr>
                <a:srgbClr val="C0392B"/>
              </a:buClr>
              <a:buFont typeface="+mj-lt"/>
              <a:buChar char="•"/>
            </a:pPr>
            <a:r>
              <a:rPr lang="es-PE" sz="1200">
                <a:solidFill>
                  <a:srgbClr val="374151"/>
                </a:solidFill>
                <a:latin typeface="Calibri" panose="020F0502020204030204" pitchFamily="34" charset="0"/>
              </a:rPr>
              <a:t>Tareas del alcance del SCI o de terceros (Sodexo, Cálidda).</a:t>
            </a:r>
          </a:p>
          <a:p>
            <a:pPr marL="152400" indent="-152400">
              <a:spcAft>
                <a:spcPts val="700"/>
              </a:spcAft>
              <a:buClr>
                <a:srgbClr val="C0392B"/>
              </a:buClr>
              <a:buFont typeface="+mj-lt"/>
              <a:buChar char="•"/>
            </a:pPr>
            <a:r>
              <a:rPr lang="es-PE" sz="1200">
                <a:solidFill>
                  <a:srgbClr val="374151"/>
                </a:solidFill>
                <a:latin typeface="Calibri" panose="020F0502020204030204" pitchFamily="34" charset="0"/>
              </a:rPr>
              <a:t>Zonas o tableros duplicados o inexistentes.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377A5F8-28CD-2402-B740-2C875AA4BD1C}"/>
              </a:ext>
            </a:extLst>
          </p:cNvPr>
          <p:cNvSpPr/>
          <p:nvPr/>
        </p:nvSpPr>
        <p:spPr>
          <a:xfrm>
            <a:off x="8128000" y="1371600"/>
            <a:ext cx="3556000" cy="3683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6117DC2-6ADE-8131-F5B4-ABF54E260FBA}"/>
              </a:ext>
            </a:extLst>
          </p:cNvPr>
          <p:cNvSpPr txBox="1"/>
          <p:nvPr/>
        </p:nvSpPr>
        <p:spPr>
          <a:xfrm>
            <a:off x="8407400" y="1549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4400" b="1">
                <a:solidFill>
                  <a:srgbClr val="E3A21A"/>
                </a:solidFill>
                <a:latin typeface="Calibri" panose="020F0502020204030204" pitchFamily="34" charset="0"/>
              </a:rPr>
              <a:t>130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2820457-94E5-FC27-E744-047A6F285149}"/>
              </a:ext>
            </a:extLst>
          </p:cNvPr>
          <p:cNvSpPr txBox="1"/>
          <p:nvPr/>
        </p:nvSpPr>
        <p:spPr>
          <a:xfrm>
            <a:off x="8407400" y="22606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500" b="1">
                <a:solidFill>
                  <a:srgbClr val="1F2E4D"/>
                </a:solidFill>
                <a:latin typeface="Calibri" panose="020F0502020204030204" pitchFamily="34" charset="0"/>
              </a:rPr>
              <a:t>modificaciones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D0DA383-8D60-FBFC-D0B4-09EE737B444F}"/>
              </a:ext>
            </a:extLst>
          </p:cNvPr>
          <p:cNvSpPr txBox="1"/>
          <p:nvPr/>
        </p:nvSpPr>
        <p:spPr>
          <a:xfrm>
            <a:off x="8407400" y="2667000"/>
            <a:ext cx="302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700"/>
              </a:spcAft>
              <a:buClr>
                <a:srgbClr val="E3A21A"/>
              </a:buClr>
              <a:buFont typeface="+mj-lt"/>
              <a:buChar char="•"/>
            </a:pPr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Frecuencia a 3 meses en inspecciones de estaciones críticas (FCO, taller).</a:t>
            </a:r>
          </a:p>
          <a:p>
            <a:pPr marL="152400" indent="-152400">
              <a:spcAft>
                <a:spcPts val="700"/>
              </a:spcAft>
              <a:buClr>
                <a:srgbClr val="E3A21A"/>
              </a:buClr>
              <a:buFont typeface="+mj-lt"/>
              <a:buChar char="•"/>
            </a:pPr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Nuevas tareas: alineamiento y revisión de rodamientos de rodillos.</a:t>
            </a:r>
          </a:p>
          <a:p>
            <a:pPr marL="152400" indent="-152400">
              <a:spcAft>
                <a:spcPts val="700"/>
              </a:spcAft>
              <a:buClr>
                <a:srgbClr val="E3A21A"/>
              </a:buClr>
              <a:buFont typeface="+mj-lt"/>
              <a:buChar char="•"/>
            </a:pPr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8 planes de revisión pasan a IR.</a:t>
            </a:r>
          </a:p>
          <a:p>
            <a:pPr marL="152400" indent="-152400">
              <a:spcAft>
                <a:spcPts val="700"/>
              </a:spcAft>
              <a:buClr>
                <a:srgbClr val="E3A21A"/>
              </a:buClr>
              <a:buFont typeface="+mj-lt"/>
              <a:buChar char="•"/>
            </a:pPr>
            <a:r>
              <a:rPr lang="es-MX" sz="1200">
                <a:solidFill>
                  <a:srgbClr val="374151"/>
                </a:solidFill>
                <a:latin typeface="Calibri" panose="020F0502020204030204" pitchFamily="34" charset="0"/>
              </a:rPr>
              <a:t>Cambio de puesto de trabajo (técnico operador, TELI, ELI).</a:t>
            </a:r>
            <a:endParaRPr lang="es-PE" sz="120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48A868CD-9089-11BC-3E62-87EA80E1705E}"/>
              </a:ext>
            </a:extLst>
          </p:cNvPr>
          <p:cNvSpPr/>
          <p:nvPr/>
        </p:nvSpPr>
        <p:spPr>
          <a:xfrm>
            <a:off x="508000" y="5257800"/>
            <a:ext cx="11176000" cy="838200"/>
          </a:xfrm>
          <a:prstGeom prst="roundRect">
            <a:avLst>
              <a:gd name="adj" fmla="val 6000"/>
            </a:avLst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7FC359B-AEA4-AABD-C82C-24F5F53E206B}"/>
              </a:ext>
            </a:extLst>
          </p:cNvPr>
          <p:cNvSpPr txBox="1"/>
          <p:nvPr/>
        </p:nvSpPr>
        <p:spPr>
          <a:xfrm>
            <a:off x="838200" y="53213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2400" b="1">
                <a:solidFill>
                  <a:srgbClr val="FFFFFF"/>
                </a:solidFill>
                <a:latin typeface="Calibri" panose="020F0502020204030204" pitchFamily="34" charset="0"/>
              </a:rPr>
              <a:t>+65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5D483F2-1CBC-E240-920A-C5768252D7E7}"/>
              </a:ext>
            </a:extLst>
          </p:cNvPr>
          <p:cNvSpPr txBox="1"/>
          <p:nvPr/>
        </p:nvSpPr>
        <p:spPr>
          <a:xfrm>
            <a:off x="838200" y="57404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50">
                <a:solidFill>
                  <a:srgbClr val="C8D3E6"/>
                </a:solidFill>
                <a:latin typeface="Calibri" panose="020F0502020204030204" pitchFamily="34" charset="0"/>
              </a:rPr>
              <a:t>balance neto de planes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E15E485-6985-565C-BEFE-04555FB3E5CD}"/>
              </a:ext>
            </a:extLst>
          </p:cNvPr>
          <p:cNvSpPr txBox="1"/>
          <p:nvPr/>
        </p:nvSpPr>
        <p:spPr>
          <a:xfrm>
            <a:off x="3606800" y="53213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2400" b="1">
                <a:solidFill>
                  <a:srgbClr val="FFFFFF"/>
                </a:solidFill>
                <a:latin typeface="Calibri" panose="020F0502020204030204" pitchFamily="34" charset="0"/>
              </a:rPr>
              <a:t>41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030035-4B8C-681A-3FFA-758FF775BD2F}"/>
              </a:ext>
            </a:extLst>
          </p:cNvPr>
          <p:cNvSpPr txBox="1"/>
          <p:nvPr/>
        </p:nvSpPr>
        <p:spPr>
          <a:xfrm>
            <a:off x="3606800" y="57404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150">
                <a:solidFill>
                  <a:srgbClr val="C8D3E6"/>
                </a:solidFill>
                <a:latin typeface="Calibri" panose="020F0502020204030204" pitchFamily="34" charset="0"/>
              </a:rPr>
              <a:t>planes con cambio de puesto</a:t>
            </a:r>
            <a:endParaRPr lang="es-PE" sz="1150">
              <a:solidFill>
                <a:srgbClr val="C8D3E6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BE0BDB3-AC02-F03D-2605-63826E1D30ED}"/>
              </a:ext>
            </a:extLst>
          </p:cNvPr>
          <p:cNvSpPr txBox="1"/>
          <p:nvPr/>
        </p:nvSpPr>
        <p:spPr>
          <a:xfrm>
            <a:off x="6375400" y="53213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2400" b="1">
                <a:solidFill>
                  <a:srgbClr val="FFFFFF"/>
                </a:solidFill>
                <a:latin typeface="Calibri" panose="020F0502020204030204" pitchFamily="34" charset="0"/>
              </a:rPr>
              <a:t>458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25020BA-3802-8A9F-6337-D1F2A603A6D0}"/>
              </a:ext>
            </a:extLst>
          </p:cNvPr>
          <p:cNvSpPr txBox="1"/>
          <p:nvPr/>
        </p:nvSpPr>
        <p:spPr>
          <a:xfrm>
            <a:off x="6375400" y="57404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50">
                <a:solidFill>
                  <a:srgbClr val="C8D3E6"/>
                </a:solidFill>
                <a:latin typeface="Calibri" panose="020F0502020204030204" pitchFamily="34" charset="0"/>
              </a:rPr>
              <a:t>planes con nueva frecuencia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616E84B-1287-2D57-9D83-C4A19D3DFAB0}"/>
              </a:ext>
            </a:extLst>
          </p:cNvPr>
          <p:cNvSpPr txBox="1"/>
          <p:nvPr/>
        </p:nvSpPr>
        <p:spPr>
          <a:xfrm>
            <a:off x="9144000" y="53213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2400" b="1">
                <a:solidFill>
                  <a:srgbClr val="F5B7A6"/>
                </a:solidFill>
                <a:latin typeface="Calibri" panose="020F0502020204030204" pitchFamily="34" charset="0"/>
              </a:rPr>
              <a:t>514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0D59756-6635-6602-61DC-750B6D1050F9}"/>
              </a:ext>
            </a:extLst>
          </p:cNvPr>
          <p:cNvSpPr txBox="1"/>
          <p:nvPr/>
        </p:nvSpPr>
        <p:spPr>
          <a:xfrm>
            <a:off x="9144000" y="57404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50">
                <a:solidFill>
                  <a:srgbClr val="C8D3E6"/>
                </a:solidFill>
                <a:latin typeface="Calibri" panose="020F0502020204030204" pitchFamily="34" charset="0"/>
              </a:rPr>
              <a:t>planes por definir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E00E44F-73A8-3149-4DA1-BB53F1A0BE6B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5CCB61A-B7CD-C1F5-B1F8-3FEDBC61ABA6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14332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1373744-13CF-702E-FDD6-087D779141A5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PRÓXIMOS PASOS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16BB1F7-D8F1-6A83-264C-B2E2897D2E86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600" b="1">
                <a:solidFill>
                  <a:srgbClr val="1F2E4D"/>
                </a:solidFill>
                <a:latin typeface="Calibri" panose="020F0502020204030204" pitchFamily="34" charset="0"/>
              </a:rPr>
              <a:t>Hoja de ruta para implementar la propuesta</a:t>
            </a:r>
            <a:endParaRPr lang="es-PE" sz="26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67FB582-8C25-A0D2-F63B-C6CB3C06E1AC}"/>
              </a:ext>
            </a:extLst>
          </p:cNvPr>
          <p:cNvCxnSpPr/>
          <p:nvPr/>
        </p:nvCxnSpPr>
        <p:spPr>
          <a:xfrm>
            <a:off x="1828800" y="1727200"/>
            <a:ext cx="8534400" cy="0"/>
          </a:xfrm>
          <a:prstGeom prst="line">
            <a:avLst/>
          </a:prstGeom>
          <a:ln w="254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DF17984D-1CF8-B232-9D05-5E02183855F9}"/>
              </a:ext>
            </a:extLst>
          </p:cNvPr>
          <p:cNvSpPr/>
          <p:nvPr/>
        </p:nvSpPr>
        <p:spPr>
          <a:xfrm>
            <a:off x="1524000" y="1422400"/>
            <a:ext cx="609600" cy="609600"/>
          </a:xfrm>
          <a:prstGeom prst="ellipse">
            <a:avLst/>
          </a:prstGeom>
          <a:solidFill>
            <a:srgbClr val="E457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F1B09E5-ED57-715A-4D6B-CF8FF3453C7F}"/>
              </a:ext>
            </a:extLst>
          </p:cNvPr>
          <p:cNvSpPr/>
          <p:nvPr/>
        </p:nvSpPr>
        <p:spPr>
          <a:xfrm>
            <a:off x="508000" y="2235200"/>
            <a:ext cx="2641600" cy="3429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FB6E6D-B58F-3163-82C0-46F130F6D7BD}"/>
              </a:ext>
            </a:extLst>
          </p:cNvPr>
          <p:cNvSpPr txBox="1"/>
          <p:nvPr/>
        </p:nvSpPr>
        <p:spPr>
          <a:xfrm>
            <a:off x="736600" y="24638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700" b="1">
                <a:solidFill>
                  <a:srgbClr val="1F2E4D"/>
                </a:solidFill>
                <a:latin typeface="Calibri" panose="020F0502020204030204" pitchFamily="34" charset="0"/>
              </a:rPr>
              <a:t>Cerrar la evaluación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7288262-0CA0-B347-5EC7-B03F7F5C37EE}"/>
              </a:ext>
            </a:extLst>
          </p:cNvPr>
          <p:cNvSpPr txBox="1"/>
          <p:nvPr/>
        </p:nvSpPr>
        <p:spPr>
          <a:xfrm>
            <a:off x="736600" y="29210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9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50">
                <a:solidFill>
                  <a:srgbClr val="374151"/>
                </a:solidFill>
                <a:latin typeface="Calibri" panose="020F0502020204030204" pitchFamily="34" charset="0"/>
              </a:rPr>
              <a:t>Definir los 514 planes sin decisión (303 de instrumentación, 156 mecánicos y 55 de adhesivos).</a:t>
            </a:r>
          </a:p>
          <a:p>
            <a:pPr marL="152400" indent="-152400">
              <a:spcAft>
                <a:spcPts val="9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50">
                <a:solidFill>
                  <a:srgbClr val="374151"/>
                </a:solidFill>
                <a:latin typeface="Calibri" panose="020F0502020204030204" pitchFamily="34" charset="0"/>
              </a:rPr>
              <a:t>Unificar el criterio de "aumentar / disminuir" frecuencia.</a:t>
            </a:r>
          </a:p>
          <a:p>
            <a:pPr marL="152400" indent="-152400">
              <a:spcAft>
                <a:spcPts val="9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50">
                <a:solidFill>
                  <a:srgbClr val="374151"/>
                </a:solidFill>
                <a:latin typeface="Calibri" panose="020F0502020204030204" pitchFamily="34" charset="0"/>
              </a:rPr>
              <a:t>Revisar 20 frecuencias atípicas (7 a 29 meses) en planes eléctricos nuevos.</a:t>
            </a:r>
            <a:endParaRPr lang="es-PE" sz="125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EA315F5-CC05-A44E-3B44-DD867354DD2B}"/>
              </a:ext>
            </a:extLst>
          </p:cNvPr>
          <p:cNvSpPr/>
          <p:nvPr/>
        </p:nvSpPr>
        <p:spPr>
          <a:xfrm>
            <a:off x="4368800" y="1422400"/>
            <a:ext cx="609600" cy="609600"/>
          </a:xfrm>
          <a:prstGeom prst="ellipse">
            <a:avLst/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8935B3A-483B-4F40-3CA3-63B72F4214F1}"/>
              </a:ext>
            </a:extLst>
          </p:cNvPr>
          <p:cNvSpPr/>
          <p:nvPr/>
        </p:nvSpPr>
        <p:spPr>
          <a:xfrm>
            <a:off x="3352800" y="2235200"/>
            <a:ext cx="2641600" cy="3429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60678F0-D34D-4309-53C3-DDE0BD7EFFBD}"/>
              </a:ext>
            </a:extLst>
          </p:cNvPr>
          <p:cNvSpPr txBox="1"/>
          <p:nvPr/>
        </p:nvSpPr>
        <p:spPr>
          <a:xfrm>
            <a:off x="3581400" y="24638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700" b="1">
                <a:solidFill>
                  <a:srgbClr val="1F2E4D"/>
                </a:solidFill>
                <a:latin typeface="Calibri" panose="020F0502020204030204" pitchFamily="34" charset="0"/>
              </a:rPr>
              <a:t>Validar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C7B6A76-DFAF-9622-5BAF-7360C83081BD}"/>
              </a:ext>
            </a:extLst>
          </p:cNvPr>
          <p:cNvSpPr txBox="1"/>
          <p:nvPr/>
        </p:nvSpPr>
        <p:spPr>
          <a:xfrm>
            <a:off x="3581400" y="29210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9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50">
                <a:solidFill>
                  <a:srgbClr val="374151"/>
                </a:solidFill>
                <a:latin typeface="Calibri" panose="020F0502020204030204" pitchFamily="34" charset="0"/>
              </a:rPr>
              <a:t>Revisar con producción los 31 planes que pasan al técnico operador.</a:t>
            </a:r>
          </a:p>
          <a:p>
            <a:pPr marL="152400" indent="-152400">
              <a:spcAft>
                <a:spcPts val="9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50">
                <a:solidFill>
                  <a:srgbClr val="374151"/>
                </a:solidFill>
                <a:latin typeface="Calibri" panose="020F0502020204030204" pitchFamily="34" charset="0"/>
              </a:rPr>
              <a:t>Capacitación y estándares de limpieza e inspección autónoma.</a:t>
            </a:r>
          </a:p>
          <a:p>
            <a:pPr marL="152400" indent="-152400">
              <a:spcAft>
                <a:spcPts val="9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50">
                <a:solidFill>
                  <a:srgbClr val="374151"/>
                </a:solidFill>
                <a:latin typeface="Calibri" panose="020F0502020204030204" pitchFamily="34" charset="0"/>
              </a:rPr>
              <a:t>Consultar con EHS los planes con requisito normativo.</a:t>
            </a:r>
            <a:endParaRPr lang="es-PE" sz="125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CD3E5EFF-DFB7-A8A7-4CCD-6A79977C320B}"/>
              </a:ext>
            </a:extLst>
          </p:cNvPr>
          <p:cNvSpPr/>
          <p:nvPr/>
        </p:nvSpPr>
        <p:spPr>
          <a:xfrm>
            <a:off x="7213600" y="1422400"/>
            <a:ext cx="609600" cy="609600"/>
          </a:xfrm>
          <a:prstGeom prst="ellipse">
            <a:avLst/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5FBF913-CEF0-692E-33A2-1C430E03B15B}"/>
              </a:ext>
            </a:extLst>
          </p:cNvPr>
          <p:cNvSpPr/>
          <p:nvPr/>
        </p:nvSpPr>
        <p:spPr>
          <a:xfrm>
            <a:off x="6197600" y="2235200"/>
            <a:ext cx="2641600" cy="3429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B54FDCF-2473-4E96-0306-3B7E64E76419}"/>
              </a:ext>
            </a:extLst>
          </p:cNvPr>
          <p:cNvSpPr txBox="1"/>
          <p:nvPr/>
        </p:nvSpPr>
        <p:spPr>
          <a:xfrm>
            <a:off x="6426200" y="24638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700" b="1">
                <a:solidFill>
                  <a:srgbClr val="1F2E4D"/>
                </a:solidFill>
                <a:latin typeface="Calibri" panose="020F0502020204030204" pitchFamily="34" charset="0"/>
              </a:rPr>
              <a:t>Cargar en SAP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5676E05-07A7-ADF5-CB3A-A01BDB3C7F14}"/>
              </a:ext>
            </a:extLst>
          </p:cNvPr>
          <p:cNvSpPr txBox="1"/>
          <p:nvPr/>
        </p:nvSpPr>
        <p:spPr>
          <a:xfrm>
            <a:off x="6426200" y="29210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9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50">
                <a:solidFill>
                  <a:srgbClr val="374151"/>
                </a:solidFill>
                <a:latin typeface="Calibri" panose="020F0502020204030204" pitchFamily="34" charset="0"/>
              </a:rPr>
              <a:t>Crear 281 planes nuevos.</a:t>
            </a:r>
          </a:p>
          <a:p>
            <a:pPr marL="152400" indent="-152400">
              <a:spcAft>
                <a:spcPts val="9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50">
                <a:solidFill>
                  <a:srgbClr val="374151"/>
                </a:solidFill>
                <a:latin typeface="Calibri" panose="020F0502020204030204" pitchFamily="34" charset="0"/>
              </a:rPr>
              <a:t>Dar de baja 216 planes.</a:t>
            </a:r>
          </a:p>
          <a:p>
            <a:pPr marL="152400" indent="-152400">
              <a:spcAft>
                <a:spcPts val="9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50">
                <a:solidFill>
                  <a:srgbClr val="374151"/>
                </a:solidFill>
                <a:latin typeface="Calibri" panose="020F0502020204030204" pitchFamily="34" charset="0"/>
              </a:rPr>
              <a:t>Modificar 130 planes (frecuencia, tareas y puesto).</a:t>
            </a:r>
            <a:endParaRPr lang="es-PE" sz="125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59F4E613-EEA8-64CD-D9FB-EEE9BC66078E}"/>
              </a:ext>
            </a:extLst>
          </p:cNvPr>
          <p:cNvSpPr/>
          <p:nvPr/>
        </p:nvSpPr>
        <p:spPr>
          <a:xfrm>
            <a:off x="10058400" y="1422400"/>
            <a:ext cx="609600" cy="609600"/>
          </a:xfrm>
          <a:prstGeom prst="ellipse">
            <a:avLst/>
          </a:prstGeom>
          <a:solidFill>
            <a:srgbClr val="1F2E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08E95CFC-78F8-8B29-5346-C43306B7663E}"/>
              </a:ext>
            </a:extLst>
          </p:cNvPr>
          <p:cNvSpPr/>
          <p:nvPr/>
        </p:nvSpPr>
        <p:spPr>
          <a:xfrm>
            <a:off x="9042400" y="2235200"/>
            <a:ext cx="2641600" cy="3429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8A799B-B4B9-EFB9-3503-64AF573D30F8}"/>
              </a:ext>
            </a:extLst>
          </p:cNvPr>
          <p:cNvSpPr txBox="1"/>
          <p:nvPr/>
        </p:nvSpPr>
        <p:spPr>
          <a:xfrm>
            <a:off x="9271000" y="2463800"/>
            <a:ext cx="220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700" b="1">
                <a:solidFill>
                  <a:srgbClr val="1F2E4D"/>
                </a:solidFill>
                <a:latin typeface="Calibri" panose="020F0502020204030204" pitchFamily="34" charset="0"/>
              </a:rPr>
              <a:t>Seguimiento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B59924A-361C-3B45-5832-74BC7A1291EF}"/>
              </a:ext>
            </a:extLst>
          </p:cNvPr>
          <p:cNvSpPr txBox="1"/>
          <p:nvPr/>
        </p:nvSpPr>
        <p:spPr>
          <a:xfrm>
            <a:off x="9271000" y="29210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spcAft>
                <a:spcPts val="9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50">
                <a:solidFill>
                  <a:srgbClr val="374151"/>
                </a:solidFill>
                <a:latin typeface="Calibri" panose="020F0502020204030204" pitchFamily="34" charset="0"/>
              </a:rPr>
              <a:t>KPI mensual de horas de delay en los módulos priorizados.</a:t>
            </a:r>
          </a:p>
          <a:p>
            <a:pPr marL="152400" indent="-152400">
              <a:spcAft>
                <a:spcPts val="9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50">
                <a:solidFill>
                  <a:srgbClr val="374151"/>
                </a:solidFill>
                <a:latin typeface="Calibri" panose="020F0502020204030204" pitchFamily="34" charset="0"/>
              </a:rPr>
              <a:t>Registrar las fallas con más detalle (L4).</a:t>
            </a:r>
          </a:p>
          <a:p>
            <a:pPr marL="152400" indent="-152400">
              <a:spcAft>
                <a:spcPts val="900"/>
              </a:spcAft>
              <a:buClr>
                <a:srgbClr val="E4572E"/>
              </a:buClr>
              <a:buFont typeface="+mj-lt"/>
              <a:buChar char="•"/>
            </a:pPr>
            <a:r>
              <a:rPr lang="es-MX" sz="1250">
                <a:solidFill>
                  <a:srgbClr val="374151"/>
                </a:solidFill>
                <a:latin typeface="Calibri" panose="020F0502020204030204" pitchFamily="34" charset="0"/>
              </a:rPr>
              <a:t>Ajuste de frecuencias según resultados.</a:t>
            </a:r>
            <a:endParaRPr lang="es-PE" sz="1250">
              <a:solidFill>
                <a:srgbClr val="374151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B28623A-3688-E422-1695-BAB9DD9185E9}"/>
              </a:ext>
            </a:extLst>
          </p:cNvPr>
          <p:cNvSpPr txBox="1"/>
          <p:nvPr/>
        </p:nvSpPr>
        <p:spPr>
          <a:xfrm>
            <a:off x="508000" y="5892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300" b="1" i="1">
                <a:solidFill>
                  <a:srgbClr val="E4572E"/>
                </a:solidFill>
                <a:latin typeface="Calibri" panose="020F0502020204030204" pitchFamily="34" charset="0"/>
              </a:rPr>
              <a:t>Prioridad inmediata: cerrar la evaluación y unificar criterios antes de cargar los cambios en SAP.</a:t>
            </a:r>
            <a:endParaRPr lang="es-PE" sz="1300" b="1" i="1">
              <a:solidFill>
                <a:srgbClr val="E4572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301714E-706C-16F4-A929-DAF94BD09087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D54A549-E846-C290-CF8D-9285314C17B3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124395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C62BC9AA-13F0-0806-74E3-E329752722A7}"/>
              </a:ext>
            </a:extLst>
          </p:cNvPr>
          <p:cNvSpPr/>
          <p:nvPr/>
        </p:nvSpPr>
        <p:spPr>
          <a:xfrm>
            <a:off x="8128000" y="-2032000"/>
            <a:ext cx="6604000" cy="6604000"/>
          </a:xfrm>
          <a:prstGeom prst="ellipse">
            <a:avLst/>
          </a:prstGeom>
          <a:solidFill>
            <a:srgbClr val="2B3F66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A54A4BCA-60E0-F359-A48D-EF912D996038}"/>
              </a:ext>
            </a:extLst>
          </p:cNvPr>
          <p:cNvSpPr/>
          <p:nvPr/>
        </p:nvSpPr>
        <p:spPr>
          <a:xfrm>
            <a:off x="8890000" y="4826000"/>
            <a:ext cx="279400" cy="279400"/>
          </a:xfrm>
          <a:prstGeom prst="ellipse">
            <a:avLst/>
          </a:prstGeom>
          <a:solidFill>
            <a:srgbClr val="E457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11A4C1B-8BDC-F0B4-FDA0-315160023F2B}"/>
              </a:ext>
            </a:extLst>
          </p:cNvPr>
          <p:cNvSpPr txBox="1"/>
          <p:nvPr/>
        </p:nvSpPr>
        <p:spPr>
          <a:xfrm>
            <a:off x="762000" y="8890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200" b="1" spc="150">
                <a:solidFill>
                  <a:srgbClr val="9FB3D1"/>
                </a:solidFill>
                <a:latin typeface="Calibri" panose="020F0502020204030204" pitchFamily="34" charset="0"/>
              </a:rPr>
              <a:t>MENSAJES CLAVE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B2CD8D9-74A5-8F11-A922-C2A51752F110}"/>
              </a:ext>
            </a:extLst>
          </p:cNvPr>
          <p:cNvSpPr/>
          <p:nvPr/>
        </p:nvSpPr>
        <p:spPr>
          <a:xfrm>
            <a:off x="762000" y="1422400"/>
            <a:ext cx="508000" cy="508000"/>
          </a:xfrm>
          <a:prstGeom prst="ellipse">
            <a:avLst/>
          </a:prstGeom>
          <a:solidFill>
            <a:srgbClr val="E457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sz="16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45A8A6D-9D57-74EA-3562-69B3A8EB46A7}"/>
              </a:ext>
            </a:extLst>
          </p:cNvPr>
          <p:cNvSpPr txBox="1"/>
          <p:nvPr/>
        </p:nvSpPr>
        <p:spPr>
          <a:xfrm>
            <a:off x="1498600" y="1447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600">
                <a:solidFill>
                  <a:srgbClr val="FFFFFF"/>
                </a:solidFill>
                <a:latin typeface="Calibri" panose="020F0502020204030204" pitchFamily="34" charset="0"/>
              </a:rPr>
              <a:t>El delay se concentra en BCM (56%) y es mayoritariamente electrónico (71%).</a:t>
            </a:r>
            <a:endParaRPr lang="es-PE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A0F7339-D199-0D3D-CB85-3F791E17243A}"/>
              </a:ext>
            </a:extLst>
          </p:cNvPr>
          <p:cNvSpPr/>
          <p:nvPr/>
        </p:nvSpPr>
        <p:spPr>
          <a:xfrm>
            <a:off x="762000" y="2590800"/>
            <a:ext cx="508000" cy="508000"/>
          </a:xfrm>
          <a:prstGeom prst="ellipse">
            <a:avLst/>
          </a:prstGeom>
          <a:solidFill>
            <a:srgbClr val="3A52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sz="16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28ABC20-59A5-797A-C12E-599969B60E99}"/>
              </a:ext>
            </a:extLst>
          </p:cNvPr>
          <p:cNvSpPr txBox="1"/>
          <p:nvPr/>
        </p:nvSpPr>
        <p:spPr>
          <a:xfrm>
            <a:off x="1498600" y="26162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600">
                <a:solidFill>
                  <a:srgbClr val="FFFFFF"/>
                </a:solidFill>
                <a:latin typeface="Calibri" panose="020F0502020204030204" pitchFamily="34" charset="0"/>
              </a:rPr>
              <a:t>En mecánico, la mitad del delay es desgaste (fajas, rodamientos y corte); en electrónico, 55% se registra como regulación electrónica.</a:t>
            </a:r>
            <a:endParaRPr lang="es-PE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8EFAA44-32CC-1BEB-7FE3-7ACE490A3DBA}"/>
              </a:ext>
            </a:extLst>
          </p:cNvPr>
          <p:cNvSpPr/>
          <p:nvPr/>
        </p:nvSpPr>
        <p:spPr>
          <a:xfrm>
            <a:off x="762000" y="3759200"/>
            <a:ext cx="508000" cy="508000"/>
          </a:xfrm>
          <a:prstGeom prst="ellipse">
            <a:avLst/>
          </a:prstGeom>
          <a:solidFill>
            <a:srgbClr val="3A52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PE" sz="16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7CF145F-107E-194F-4ACC-5A3885D242EF}"/>
              </a:ext>
            </a:extLst>
          </p:cNvPr>
          <p:cNvSpPr txBox="1"/>
          <p:nvPr/>
        </p:nvSpPr>
        <p:spPr>
          <a:xfrm>
            <a:off x="1498600" y="37846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1600">
                <a:solidFill>
                  <a:srgbClr val="FFFFFF"/>
                </a:solidFill>
                <a:latin typeface="Calibri" panose="020F0502020204030204" pitchFamily="34" charset="0"/>
              </a:rPr>
              <a:t>La propuesta reordena 2,093 planes: 281 altas, 216 bajas y 130 modificaciones, y traslada 31 inspecciones al técnico operador.</a:t>
            </a:r>
            <a:endParaRPr lang="es-PE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A607445-FE7E-C264-CADE-69CAB91DFFFA}"/>
              </a:ext>
            </a:extLst>
          </p:cNvPr>
          <p:cNvSpPr txBox="1"/>
          <p:nvPr/>
        </p:nvSpPr>
        <p:spPr>
          <a:xfrm>
            <a:off x="762000" y="53340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3600" b="1">
                <a:solidFill>
                  <a:srgbClr val="FFFFFF"/>
                </a:solidFill>
                <a:latin typeface="Calibri" panose="020F0502020204030204" pitchFamily="34" charset="0"/>
              </a:rPr>
              <a:t>Gracias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EBBFBF9-8F50-BE22-8E58-6866DD6AC6D7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8FA3C4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8FA3C4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F4CDC52-380D-D1A5-E3E9-F08FF33A49D8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8FA3C4"/>
                </a:solidFill>
                <a:latin typeface="Calibri" panose="020F0502020204030204" pitchFamily="34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02166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A86E185-0584-FB57-CB2B-35C79EE8BCA7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FALLAS POR MÓDULO  ·  TOP 5 BCM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184A6-63AC-05A7-E3A0-63B22CDD8643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600" b="1">
                <a:solidFill>
                  <a:srgbClr val="1F2E4D"/>
                </a:solidFill>
                <a:latin typeface="Calibri" panose="020F0502020204030204" pitchFamily="34" charset="0"/>
              </a:rPr>
              <a:t>BCM: la regulación electrónica del CS suma 156.7 h</a:t>
            </a:r>
            <a:endParaRPr lang="es-PE" sz="26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B0E8F6E-2304-15E4-7AEC-09CB6DD07486}"/>
              </a:ext>
            </a:extLst>
          </p:cNvPr>
          <p:cNvSpPr/>
          <p:nvPr/>
        </p:nvSpPr>
        <p:spPr>
          <a:xfrm>
            <a:off x="508000" y="1371600"/>
            <a:ext cx="381000" cy="381000"/>
          </a:xfrm>
          <a:prstGeom prst="ellipse">
            <a:avLst/>
          </a:prstGeom>
          <a:solidFill>
            <a:srgbClr val="2E7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Forma 4">
            <a:extLst>
              <a:ext uri="{FF2B5EF4-FFF2-40B4-BE49-F238E27FC236}">
                <a16:creationId xmlns:a16="http://schemas.microsoft.com/office/drawing/2014/main" id="{A5AA404D-839F-5995-54BF-432A1AD18710}"/>
              </a:ext>
            </a:extLst>
          </p:cNvPr>
          <p:cNvSpPr/>
          <p:nvPr/>
        </p:nvSpPr>
        <p:spPr>
          <a:xfrm>
            <a:off x="607060" y="1470660"/>
            <a:ext cx="182880" cy="182880"/>
          </a:xfrm>
          <a:prstGeom prst="gear6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2E00AA4-15AF-C5BC-A1C4-F821483141B3}"/>
              </a:ext>
            </a:extLst>
          </p:cNvPr>
          <p:cNvSpPr txBox="1"/>
          <p:nvPr/>
        </p:nvSpPr>
        <p:spPr>
          <a:xfrm>
            <a:off x="1016000" y="1384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2E7A5E"/>
                </a:solidFill>
                <a:latin typeface="Calibri" panose="020F0502020204030204" pitchFamily="34" charset="0"/>
              </a:rPr>
              <a:t>Mecánico · Top 5 fallas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B452E6B-2EDA-3901-D1AE-831C917184AE}"/>
              </a:ext>
            </a:extLst>
          </p:cNvPr>
          <p:cNvSpPr txBox="1"/>
          <p:nvPr/>
        </p:nvSpPr>
        <p:spPr>
          <a:xfrm>
            <a:off x="1016000" y="16002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50">
                <a:solidFill>
                  <a:srgbClr val="6B7280"/>
                </a:solidFill>
                <a:latin typeface="Calibri" panose="020F0502020204030204" pitchFamily="34" charset="0"/>
              </a:rPr>
              <a:t>70.7 h de 378.6 h  ·  18.7% del delay mecánico</a:t>
            </a: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30860D71-C162-09A8-F208-5F9855C37A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497897"/>
              </p:ext>
            </p:extLst>
          </p:nvPr>
        </p:nvGraphicFramePr>
        <p:xfrm>
          <a:off x="431800" y="1854200"/>
          <a:ext cx="5410200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Elipse 8">
            <a:extLst>
              <a:ext uri="{FF2B5EF4-FFF2-40B4-BE49-F238E27FC236}">
                <a16:creationId xmlns:a16="http://schemas.microsoft.com/office/drawing/2014/main" id="{E8BEC4EF-B03D-E7B4-891F-B64D5B117B22}"/>
              </a:ext>
            </a:extLst>
          </p:cNvPr>
          <p:cNvSpPr/>
          <p:nvPr/>
        </p:nvSpPr>
        <p:spPr>
          <a:xfrm>
            <a:off x="6350000" y="1371600"/>
            <a:ext cx="381000" cy="381000"/>
          </a:xfrm>
          <a:prstGeom prst="ellipse">
            <a:avLst/>
          </a:prstGeom>
          <a:solidFill>
            <a:srgbClr val="6B3A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ayo 9">
            <a:extLst>
              <a:ext uri="{FF2B5EF4-FFF2-40B4-BE49-F238E27FC236}">
                <a16:creationId xmlns:a16="http://schemas.microsoft.com/office/drawing/2014/main" id="{9FC8164E-4462-AD31-EC9D-56A15B039138}"/>
              </a:ext>
            </a:extLst>
          </p:cNvPr>
          <p:cNvSpPr/>
          <p:nvPr/>
        </p:nvSpPr>
        <p:spPr>
          <a:xfrm>
            <a:off x="6449060" y="1470660"/>
            <a:ext cx="182880" cy="182880"/>
          </a:xfrm>
          <a:prstGeom prst="lightningBol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E63F135-5500-1485-210C-7F540932E44B}"/>
              </a:ext>
            </a:extLst>
          </p:cNvPr>
          <p:cNvSpPr txBox="1"/>
          <p:nvPr/>
        </p:nvSpPr>
        <p:spPr>
          <a:xfrm>
            <a:off x="6858000" y="1384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6B3A8B"/>
                </a:solidFill>
                <a:latin typeface="Calibri" panose="020F0502020204030204" pitchFamily="34" charset="0"/>
              </a:rPr>
              <a:t>Electrónico · Top 5 fallas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6ECA40F-860E-2F97-21FE-22978D79086E}"/>
              </a:ext>
            </a:extLst>
          </p:cNvPr>
          <p:cNvSpPr txBox="1"/>
          <p:nvPr/>
        </p:nvSpPr>
        <p:spPr>
          <a:xfrm>
            <a:off x="6858000" y="16002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50">
                <a:solidFill>
                  <a:srgbClr val="6B7280"/>
                </a:solidFill>
                <a:latin typeface="Calibri" panose="020F0502020204030204" pitchFamily="34" charset="0"/>
              </a:rPr>
              <a:t>321.9 h de 1,042.9 h  ·  30.9% del delay electrónico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531F74E6-BB2E-6522-9872-CF19EE4457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6061192"/>
              </p:ext>
            </p:extLst>
          </p:nvPr>
        </p:nvGraphicFramePr>
        <p:xfrm>
          <a:off x="6273800" y="1854200"/>
          <a:ext cx="5410200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D2EB6370-13B6-72EC-F867-9D69A0A71B52}"/>
              </a:ext>
            </a:extLst>
          </p:cNvPr>
          <p:cNvSpPr txBox="1"/>
          <p:nvPr/>
        </p:nvSpPr>
        <p:spPr>
          <a:xfrm>
            <a:off x="508000" y="62484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900" i="1">
                <a:solidFill>
                  <a:srgbClr val="6B7280"/>
                </a:solidFill>
                <a:latin typeface="Calibri" panose="020F0502020204030204" pitchFamily="34" charset="0"/>
              </a:rPr>
              <a:t>Horas de delay por falla (Detalle L4) y módulo, hoja «Fallas por módulo». Mecánico incluye empacado; electrónico, empacado y adhesivos. BCM = PI7, PI8, PI9 y PI11.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3C11EE1-F819-7584-9FE3-7724C15176F6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CB78BF4-9099-97BA-AA7E-3ECDF9FC8AF7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23846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A86E185-0584-FB57-CB2B-35C79EE8BCA7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FALLAS POR MÓDULO  ·  TOP 5 PADS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184A6-63AC-05A7-E3A0-63B22CDD8643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600" b="1">
                <a:solidFill>
                  <a:srgbClr val="1F2E4D"/>
                </a:solidFill>
                <a:latin typeface="Calibri" panose="020F0502020204030204" pitchFamily="34" charset="0"/>
              </a:rPr>
              <a:t>PADS: la regulación electrónica del Bagger 1 suma 64.5 h</a:t>
            </a:r>
            <a:endParaRPr lang="es-PE" sz="26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B0E8F6E-2304-15E4-7AEC-09CB6DD07486}"/>
              </a:ext>
            </a:extLst>
          </p:cNvPr>
          <p:cNvSpPr/>
          <p:nvPr/>
        </p:nvSpPr>
        <p:spPr>
          <a:xfrm>
            <a:off x="508000" y="1371600"/>
            <a:ext cx="381000" cy="381000"/>
          </a:xfrm>
          <a:prstGeom prst="ellipse">
            <a:avLst/>
          </a:prstGeom>
          <a:solidFill>
            <a:srgbClr val="2E7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Forma 4">
            <a:extLst>
              <a:ext uri="{FF2B5EF4-FFF2-40B4-BE49-F238E27FC236}">
                <a16:creationId xmlns:a16="http://schemas.microsoft.com/office/drawing/2014/main" id="{A5AA404D-839F-5995-54BF-432A1AD18710}"/>
              </a:ext>
            </a:extLst>
          </p:cNvPr>
          <p:cNvSpPr/>
          <p:nvPr/>
        </p:nvSpPr>
        <p:spPr>
          <a:xfrm>
            <a:off x="607060" y="1470660"/>
            <a:ext cx="182880" cy="182880"/>
          </a:xfrm>
          <a:prstGeom prst="gear6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2E00AA4-15AF-C5BC-A1C4-F821483141B3}"/>
              </a:ext>
            </a:extLst>
          </p:cNvPr>
          <p:cNvSpPr txBox="1"/>
          <p:nvPr/>
        </p:nvSpPr>
        <p:spPr>
          <a:xfrm>
            <a:off x="1016000" y="1384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2E7A5E"/>
                </a:solidFill>
                <a:latin typeface="Calibri" panose="020F0502020204030204" pitchFamily="34" charset="0"/>
              </a:rPr>
              <a:t>Mecánico · Top 5 fallas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B452E6B-2EDA-3901-D1AE-831C917184AE}"/>
              </a:ext>
            </a:extLst>
          </p:cNvPr>
          <p:cNvSpPr txBox="1"/>
          <p:nvPr/>
        </p:nvSpPr>
        <p:spPr>
          <a:xfrm>
            <a:off x="1016000" y="16002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50">
                <a:solidFill>
                  <a:srgbClr val="6B7280"/>
                </a:solidFill>
                <a:latin typeface="Calibri" panose="020F0502020204030204" pitchFamily="34" charset="0"/>
              </a:rPr>
              <a:t>46.7 h de 125.6 h  ·  37.2% del delay mecánico</a:t>
            </a: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30860D71-C162-09A8-F208-5F9855C37A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497897"/>
              </p:ext>
            </p:extLst>
          </p:nvPr>
        </p:nvGraphicFramePr>
        <p:xfrm>
          <a:off x="431800" y="1854200"/>
          <a:ext cx="5410200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Elipse 8">
            <a:extLst>
              <a:ext uri="{FF2B5EF4-FFF2-40B4-BE49-F238E27FC236}">
                <a16:creationId xmlns:a16="http://schemas.microsoft.com/office/drawing/2014/main" id="{E8BEC4EF-B03D-E7B4-891F-B64D5B117B22}"/>
              </a:ext>
            </a:extLst>
          </p:cNvPr>
          <p:cNvSpPr/>
          <p:nvPr/>
        </p:nvSpPr>
        <p:spPr>
          <a:xfrm>
            <a:off x="6350000" y="1371600"/>
            <a:ext cx="381000" cy="381000"/>
          </a:xfrm>
          <a:prstGeom prst="ellipse">
            <a:avLst/>
          </a:prstGeom>
          <a:solidFill>
            <a:srgbClr val="6B3A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ayo 9">
            <a:extLst>
              <a:ext uri="{FF2B5EF4-FFF2-40B4-BE49-F238E27FC236}">
                <a16:creationId xmlns:a16="http://schemas.microsoft.com/office/drawing/2014/main" id="{9FC8164E-4462-AD31-EC9D-56A15B039138}"/>
              </a:ext>
            </a:extLst>
          </p:cNvPr>
          <p:cNvSpPr/>
          <p:nvPr/>
        </p:nvSpPr>
        <p:spPr>
          <a:xfrm>
            <a:off x="6449060" y="1470660"/>
            <a:ext cx="182880" cy="182880"/>
          </a:xfrm>
          <a:prstGeom prst="lightningBol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E63F135-5500-1485-210C-7F540932E44B}"/>
              </a:ext>
            </a:extLst>
          </p:cNvPr>
          <p:cNvSpPr txBox="1"/>
          <p:nvPr/>
        </p:nvSpPr>
        <p:spPr>
          <a:xfrm>
            <a:off x="6858000" y="1384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6B3A8B"/>
                </a:solidFill>
                <a:latin typeface="Calibri" panose="020F0502020204030204" pitchFamily="34" charset="0"/>
              </a:rPr>
              <a:t>Electrónico · Top 5 fallas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6ECA40F-860E-2F97-21FE-22978D79086E}"/>
              </a:ext>
            </a:extLst>
          </p:cNvPr>
          <p:cNvSpPr txBox="1"/>
          <p:nvPr/>
        </p:nvSpPr>
        <p:spPr>
          <a:xfrm>
            <a:off x="6858000" y="16002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50">
                <a:solidFill>
                  <a:srgbClr val="6B7280"/>
                </a:solidFill>
                <a:latin typeface="Calibri" panose="020F0502020204030204" pitchFamily="34" charset="0"/>
              </a:rPr>
              <a:t>206.9 h de 546.6 h  ·  37.8% del delay electrónico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531F74E6-BB2E-6522-9872-CF19EE4457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6061192"/>
              </p:ext>
            </p:extLst>
          </p:nvPr>
        </p:nvGraphicFramePr>
        <p:xfrm>
          <a:off x="6273800" y="1854200"/>
          <a:ext cx="5410200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D2EB6370-13B6-72EC-F867-9D69A0A71B52}"/>
              </a:ext>
            </a:extLst>
          </p:cNvPr>
          <p:cNvSpPr txBox="1"/>
          <p:nvPr/>
        </p:nvSpPr>
        <p:spPr>
          <a:xfrm>
            <a:off x="508000" y="62484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900" i="1">
                <a:solidFill>
                  <a:srgbClr val="6B7280"/>
                </a:solidFill>
                <a:latin typeface="Calibri" panose="020F0502020204030204" pitchFamily="34" charset="0"/>
              </a:rPr>
              <a:t>Horas de delay por falla (Detalle L4) y módulo, hoja «Fallas por módulo». Mecánico incluye empacado; electrónico, empacado y adhesivos. PADS = PF3 y PF4.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3C11EE1-F819-7584-9FE3-7724C15176F6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CB78BF4-9099-97BA-AA7E-3ECDF9FC8AF7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858797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A86E185-0584-FB57-CB2B-35C79EE8BCA7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FALLAS POR MÓDULO  ·  TOP 5 PF5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184A6-63AC-05A7-E3A0-63B22CDD8643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600" b="1">
                <a:solidFill>
                  <a:srgbClr val="1F2E4D"/>
                </a:solidFill>
                <a:latin typeface="Calibri" panose="020F0502020204030204" pitchFamily="34" charset="0"/>
              </a:rPr>
              <a:t>PF5: las alarmas de servo en empaque encabezan el delay</a:t>
            </a:r>
            <a:endParaRPr lang="es-PE" sz="26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B0E8F6E-2304-15E4-7AEC-09CB6DD07486}"/>
              </a:ext>
            </a:extLst>
          </p:cNvPr>
          <p:cNvSpPr/>
          <p:nvPr/>
        </p:nvSpPr>
        <p:spPr>
          <a:xfrm>
            <a:off x="508000" y="1371600"/>
            <a:ext cx="381000" cy="381000"/>
          </a:xfrm>
          <a:prstGeom prst="ellipse">
            <a:avLst/>
          </a:prstGeom>
          <a:solidFill>
            <a:srgbClr val="2E7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Forma 4">
            <a:extLst>
              <a:ext uri="{FF2B5EF4-FFF2-40B4-BE49-F238E27FC236}">
                <a16:creationId xmlns:a16="http://schemas.microsoft.com/office/drawing/2014/main" id="{A5AA404D-839F-5995-54BF-432A1AD18710}"/>
              </a:ext>
            </a:extLst>
          </p:cNvPr>
          <p:cNvSpPr/>
          <p:nvPr/>
        </p:nvSpPr>
        <p:spPr>
          <a:xfrm>
            <a:off x="607060" y="1470660"/>
            <a:ext cx="182880" cy="182880"/>
          </a:xfrm>
          <a:prstGeom prst="gear6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2E00AA4-15AF-C5BC-A1C4-F821483141B3}"/>
              </a:ext>
            </a:extLst>
          </p:cNvPr>
          <p:cNvSpPr txBox="1"/>
          <p:nvPr/>
        </p:nvSpPr>
        <p:spPr>
          <a:xfrm>
            <a:off x="1016000" y="1384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2E7A5E"/>
                </a:solidFill>
                <a:latin typeface="Calibri" panose="020F0502020204030204" pitchFamily="34" charset="0"/>
              </a:rPr>
              <a:t>Mecánico · Top 5 fallas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B452E6B-2EDA-3901-D1AE-831C917184AE}"/>
              </a:ext>
            </a:extLst>
          </p:cNvPr>
          <p:cNvSpPr txBox="1"/>
          <p:nvPr/>
        </p:nvSpPr>
        <p:spPr>
          <a:xfrm>
            <a:off x="1016000" y="16002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50">
                <a:solidFill>
                  <a:srgbClr val="6B7280"/>
                </a:solidFill>
                <a:latin typeface="Calibri" panose="020F0502020204030204" pitchFamily="34" charset="0"/>
              </a:rPr>
              <a:t>50.0 h de 95.6 h  ·  52.3% del delay mecánico</a:t>
            </a: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30860D71-C162-09A8-F208-5F9855C37A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497897"/>
              </p:ext>
            </p:extLst>
          </p:nvPr>
        </p:nvGraphicFramePr>
        <p:xfrm>
          <a:off x="431800" y="1854200"/>
          <a:ext cx="5410200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Elipse 8">
            <a:extLst>
              <a:ext uri="{FF2B5EF4-FFF2-40B4-BE49-F238E27FC236}">
                <a16:creationId xmlns:a16="http://schemas.microsoft.com/office/drawing/2014/main" id="{E8BEC4EF-B03D-E7B4-891F-B64D5B117B22}"/>
              </a:ext>
            </a:extLst>
          </p:cNvPr>
          <p:cNvSpPr/>
          <p:nvPr/>
        </p:nvSpPr>
        <p:spPr>
          <a:xfrm>
            <a:off x="6350000" y="1371600"/>
            <a:ext cx="381000" cy="381000"/>
          </a:xfrm>
          <a:prstGeom prst="ellipse">
            <a:avLst/>
          </a:prstGeom>
          <a:solidFill>
            <a:srgbClr val="6B3A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ayo 9">
            <a:extLst>
              <a:ext uri="{FF2B5EF4-FFF2-40B4-BE49-F238E27FC236}">
                <a16:creationId xmlns:a16="http://schemas.microsoft.com/office/drawing/2014/main" id="{9FC8164E-4462-AD31-EC9D-56A15B039138}"/>
              </a:ext>
            </a:extLst>
          </p:cNvPr>
          <p:cNvSpPr/>
          <p:nvPr/>
        </p:nvSpPr>
        <p:spPr>
          <a:xfrm>
            <a:off x="6449060" y="1470660"/>
            <a:ext cx="182880" cy="182880"/>
          </a:xfrm>
          <a:prstGeom prst="lightningBol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E63F135-5500-1485-210C-7F540932E44B}"/>
              </a:ext>
            </a:extLst>
          </p:cNvPr>
          <p:cNvSpPr txBox="1"/>
          <p:nvPr/>
        </p:nvSpPr>
        <p:spPr>
          <a:xfrm>
            <a:off x="6858000" y="1384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6B3A8B"/>
                </a:solidFill>
                <a:latin typeface="Calibri" panose="020F0502020204030204" pitchFamily="34" charset="0"/>
              </a:rPr>
              <a:t>Electrónico · Top 5 fallas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6ECA40F-860E-2F97-21FE-22978D79086E}"/>
              </a:ext>
            </a:extLst>
          </p:cNvPr>
          <p:cNvSpPr txBox="1"/>
          <p:nvPr/>
        </p:nvSpPr>
        <p:spPr>
          <a:xfrm>
            <a:off x="6858000" y="16002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50">
                <a:solidFill>
                  <a:srgbClr val="6B7280"/>
                </a:solidFill>
                <a:latin typeface="Calibri" panose="020F0502020204030204" pitchFamily="34" charset="0"/>
              </a:rPr>
              <a:t>64.6 h de 190.1 h  ·  34.0% del delay electrónico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531F74E6-BB2E-6522-9872-CF19EE4457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6061192"/>
              </p:ext>
            </p:extLst>
          </p:nvPr>
        </p:nvGraphicFramePr>
        <p:xfrm>
          <a:off x="6273800" y="1854200"/>
          <a:ext cx="5410200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D2EB6370-13B6-72EC-F867-9D69A0A71B52}"/>
              </a:ext>
            </a:extLst>
          </p:cNvPr>
          <p:cNvSpPr txBox="1"/>
          <p:nvPr/>
        </p:nvSpPr>
        <p:spPr>
          <a:xfrm>
            <a:off x="508000" y="62484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900" i="1">
                <a:solidFill>
                  <a:srgbClr val="6B7280"/>
                </a:solidFill>
                <a:latin typeface="Calibri" panose="020F0502020204030204" pitchFamily="34" charset="0"/>
              </a:rPr>
              <a:t>Horas de delay por falla (Detalle L4) y módulo, hoja «Fallas por módulo». Mecánico incluye empacado; electrónico, empacado y adhesivos.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3C11EE1-F819-7584-9FE3-7724C15176F6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CB78BF4-9099-97BA-AA7E-3ECDF9FC8AF7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31440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A86E185-0584-FB57-CB2B-35C79EE8BCA7}"/>
              </a:ext>
            </a:extLst>
          </p:cNvPr>
          <p:cNvSpPr txBox="1"/>
          <p:nvPr/>
        </p:nvSpPr>
        <p:spPr>
          <a:xfrm>
            <a:off x="508000" y="3302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100" b="1" spc="120">
                <a:solidFill>
                  <a:srgbClr val="E4572E"/>
                </a:solidFill>
                <a:latin typeface="Calibri" panose="020F0502020204030204" pitchFamily="34" charset="0"/>
              </a:rPr>
              <a:t>FALLAS POR MÓDULO  ·  TOP 5 PA1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184A6-63AC-05A7-E3A0-63B22CDD8643}"/>
              </a:ext>
            </a:extLst>
          </p:cNvPr>
          <p:cNvSpPr txBox="1"/>
          <p:nvPr/>
        </p:nvSpPr>
        <p:spPr>
          <a:xfrm>
            <a:off x="508000" y="5588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2600" b="1">
                <a:solidFill>
                  <a:srgbClr val="1F2E4D"/>
                </a:solidFill>
                <a:latin typeface="Calibri" panose="020F0502020204030204" pitchFamily="34" charset="0"/>
              </a:rPr>
              <a:t>PA1: el componente mecánico dañado en ETA suma 11.2 h</a:t>
            </a:r>
            <a:endParaRPr lang="es-PE" sz="2600" b="1">
              <a:solidFill>
                <a:srgbClr val="1F2E4D"/>
              </a:solidFill>
              <a:latin typeface="Calibri" panose="020F0502020204030204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B0E8F6E-2304-15E4-7AEC-09CB6DD07486}"/>
              </a:ext>
            </a:extLst>
          </p:cNvPr>
          <p:cNvSpPr/>
          <p:nvPr/>
        </p:nvSpPr>
        <p:spPr>
          <a:xfrm>
            <a:off x="508000" y="1371600"/>
            <a:ext cx="381000" cy="381000"/>
          </a:xfrm>
          <a:prstGeom prst="ellipse">
            <a:avLst/>
          </a:prstGeom>
          <a:solidFill>
            <a:srgbClr val="2E7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Forma 4">
            <a:extLst>
              <a:ext uri="{FF2B5EF4-FFF2-40B4-BE49-F238E27FC236}">
                <a16:creationId xmlns:a16="http://schemas.microsoft.com/office/drawing/2014/main" id="{A5AA404D-839F-5995-54BF-432A1AD18710}"/>
              </a:ext>
            </a:extLst>
          </p:cNvPr>
          <p:cNvSpPr/>
          <p:nvPr/>
        </p:nvSpPr>
        <p:spPr>
          <a:xfrm>
            <a:off x="607060" y="1470660"/>
            <a:ext cx="182880" cy="182880"/>
          </a:xfrm>
          <a:prstGeom prst="gear6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2E00AA4-15AF-C5BC-A1C4-F821483141B3}"/>
              </a:ext>
            </a:extLst>
          </p:cNvPr>
          <p:cNvSpPr txBox="1"/>
          <p:nvPr/>
        </p:nvSpPr>
        <p:spPr>
          <a:xfrm>
            <a:off x="1016000" y="1384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2E7A5E"/>
                </a:solidFill>
                <a:latin typeface="Calibri" panose="020F0502020204030204" pitchFamily="34" charset="0"/>
              </a:rPr>
              <a:t>Mecánico · Top 5 fallas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B452E6B-2EDA-3901-D1AE-831C917184AE}"/>
              </a:ext>
            </a:extLst>
          </p:cNvPr>
          <p:cNvSpPr txBox="1"/>
          <p:nvPr/>
        </p:nvSpPr>
        <p:spPr>
          <a:xfrm>
            <a:off x="1016000" y="16002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50">
                <a:solidFill>
                  <a:srgbClr val="6B7280"/>
                </a:solidFill>
                <a:latin typeface="Calibri" panose="020F0502020204030204" pitchFamily="34" charset="0"/>
              </a:rPr>
              <a:t>29.5 h de 38.7 h  ·  76.1% del delay mecánico</a:t>
            </a: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30860D71-C162-09A8-F208-5F9855C37A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497897"/>
              </p:ext>
            </p:extLst>
          </p:nvPr>
        </p:nvGraphicFramePr>
        <p:xfrm>
          <a:off x="431800" y="1854200"/>
          <a:ext cx="5410200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Elipse 8">
            <a:extLst>
              <a:ext uri="{FF2B5EF4-FFF2-40B4-BE49-F238E27FC236}">
                <a16:creationId xmlns:a16="http://schemas.microsoft.com/office/drawing/2014/main" id="{E8BEC4EF-B03D-E7B4-891F-B64D5B117B22}"/>
              </a:ext>
            </a:extLst>
          </p:cNvPr>
          <p:cNvSpPr/>
          <p:nvPr/>
        </p:nvSpPr>
        <p:spPr>
          <a:xfrm>
            <a:off x="6350000" y="1371600"/>
            <a:ext cx="381000" cy="381000"/>
          </a:xfrm>
          <a:prstGeom prst="ellipse">
            <a:avLst/>
          </a:prstGeom>
          <a:solidFill>
            <a:srgbClr val="6B3A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ayo 9">
            <a:extLst>
              <a:ext uri="{FF2B5EF4-FFF2-40B4-BE49-F238E27FC236}">
                <a16:creationId xmlns:a16="http://schemas.microsoft.com/office/drawing/2014/main" id="{9FC8164E-4462-AD31-EC9D-56A15B039138}"/>
              </a:ext>
            </a:extLst>
          </p:cNvPr>
          <p:cNvSpPr/>
          <p:nvPr/>
        </p:nvSpPr>
        <p:spPr>
          <a:xfrm>
            <a:off x="6449060" y="1470660"/>
            <a:ext cx="182880" cy="182880"/>
          </a:xfrm>
          <a:prstGeom prst="lightningBol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E63F135-5500-1485-210C-7F540932E44B}"/>
              </a:ext>
            </a:extLst>
          </p:cNvPr>
          <p:cNvSpPr txBox="1"/>
          <p:nvPr/>
        </p:nvSpPr>
        <p:spPr>
          <a:xfrm>
            <a:off x="6858000" y="1384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400" b="1">
                <a:solidFill>
                  <a:srgbClr val="6B3A8B"/>
                </a:solidFill>
                <a:latin typeface="Calibri" panose="020F0502020204030204" pitchFamily="34" charset="0"/>
              </a:rPr>
              <a:t>Electrónico · Top 5 fallas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6ECA40F-860E-2F97-21FE-22978D79086E}"/>
              </a:ext>
            </a:extLst>
          </p:cNvPr>
          <p:cNvSpPr txBox="1"/>
          <p:nvPr/>
        </p:nvSpPr>
        <p:spPr>
          <a:xfrm>
            <a:off x="6858000" y="16002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1050">
                <a:solidFill>
                  <a:srgbClr val="6B7280"/>
                </a:solidFill>
                <a:latin typeface="Calibri" panose="020F0502020204030204" pitchFamily="34" charset="0"/>
              </a:rPr>
              <a:t>23.4 h de 41.3 h  ·  56.6% del delay electrónico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531F74E6-BB2E-6522-9872-CF19EE4457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6061192"/>
              </p:ext>
            </p:extLst>
          </p:nvPr>
        </p:nvGraphicFramePr>
        <p:xfrm>
          <a:off x="6273800" y="1854200"/>
          <a:ext cx="5410200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D2EB6370-13B6-72EC-F867-9D69A0A71B52}"/>
              </a:ext>
            </a:extLst>
          </p:cNvPr>
          <p:cNvSpPr txBox="1"/>
          <p:nvPr/>
        </p:nvSpPr>
        <p:spPr>
          <a:xfrm>
            <a:off x="508000" y="62484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PE" sz="900" i="1">
                <a:solidFill>
                  <a:srgbClr val="6B7280"/>
                </a:solidFill>
                <a:latin typeface="Calibri" panose="020F0502020204030204" pitchFamily="34" charset="0"/>
              </a:rPr>
              <a:t>Horas de delay por falla (Detalle L4) y módulo, hoja «Fallas por módulo». Mecánico incluye empacado; electrónico, empacado y adhesivos. PA1 electrónico: solo empacado y adhesivos.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3C11EE1-F819-7584-9FE3-7724C15176F6}"/>
              </a:ext>
            </a:extLst>
          </p:cNvPr>
          <p:cNvSpPr txBox="1"/>
          <p:nvPr/>
        </p:nvSpPr>
        <p:spPr>
          <a:xfrm>
            <a:off x="508000" y="652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MX" sz="900">
                <a:solidFill>
                  <a:srgbClr val="9AA1AD"/>
                </a:solidFill>
                <a:latin typeface="Calibri" panose="020F0502020204030204" pitchFamily="34" charset="0"/>
              </a:rPr>
              <a:t>Gestión de Mantenimiento  ·  Kimberly-Clark Perú</a:t>
            </a:r>
            <a:endParaRPr lang="es-PE" sz="900">
              <a:solidFill>
                <a:srgbClr val="9AA1AD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CB78BF4-9099-97BA-AA7E-3ECDF9FC8AF7}"/>
              </a:ext>
            </a:extLst>
          </p:cNvPr>
          <p:cNvSpPr txBox="1"/>
          <p:nvPr/>
        </p:nvSpPr>
        <p:spPr>
          <a:xfrm>
            <a:off x="10922000" y="6527800"/>
            <a:ext cx="76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PE" sz="900">
                <a:solidFill>
                  <a:srgbClr val="9AA1AD"/>
                </a:solidFill>
                <a:latin typeface="Calibri" panose="020F050202020403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150352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3299</Words>
  <Application>Microsoft Office PowerPoint</Application>
  <PresentationFormat>Panorámica</PresentationFormat>
  <Paragraphs>452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u202010109 (Vega Gamarra, Juan Francisco Jesus)</dc:creator>
  <cp:lastModifiedBy>u202010109 (Vega Gamarra, Juan Francisco Jesus)</cp:lastModifiedBy>
  <cp:revision>3</cp:revision>
  <dcterms:created xsi:type="dcterms:W3CDTF">2026-09-28T03:13:22Z</dcterms:created>
  <dcterms:modified xsi:type="dcterms:W3CDTF">2026-09-29T03:46:38Z</dcterms:modified>
</cp:coreProperties>
</file>